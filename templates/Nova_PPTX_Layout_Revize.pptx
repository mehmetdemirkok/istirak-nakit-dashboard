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Giriş</c:v>
                </c:pt>
              </c:strCache>
            </c:strRef>
          </c:tx>
          <c:spPr>
            <a:solidFill>
              <a:srgbClr val="0B4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NİS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EKİ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132045000</c:v>
                </c:pt>
                <c:pt idx="1">
                  <c:v>115502000</c:v>
                </c:pt>
                <c:pt idx="2">
                  <c:v>112486000</c:v>
                </c:pt>
                <c:pt idx="3">
                  <c:v>99295000</c:v>
                </c:pt>
                <c:pt idx="4">
                  <c:v>93729000</c:v>
                </c:pt>
                <c:pt idx="5">
                  <c:v>107181000</c:v>
                </c:pt>
                <c:pt idx="6">
                  <c:v>122457000</c:v>
                </c:pt>
                <c:pt idx="7">
                  <c:v>114736000</c:v>
                </c:pt>
                <c:pt idx="8">
                  <c:v>124060000</c:v>
                </c:pt>
                <c:pt idx="9">
                  <c:v>141827000</c:v>
                </c:pt>
                <c:pt idx="10">
                  <c:v>130281000</c:v>
                </c:pt>
                <c:pt idx="11">
                  <c:v>155465000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Çıkış</c:v>
                </c:pt>
              </c:strCache>
            </c:strRef>
          </c:tx>
          <c:spPr>
            <a:solidFill>
              <a:srgbClr val="E877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OCA</c:v>
                  </c:pt>
                  <c:pt idx="1">
                    <c:v>ŞUB</c:v>
                  </c:pt>
                  <c:pt idx="2">
                    <c:v>MAR</c:v>
                  </c:pt>
                  <c:pt idx="3">
                    <c:v>NİS</c:v>
                  </c:pt>
                  <c:pt idx="4">
                    <c:v>MAY</c:v>
                  </c:pt>
                  <c:pt idx="5">
                    <c:v>HAZ</c:v>
                  </c:pt>
                  <c:pt idx="6">
                    <c:v>TEM</c:v>
                  </c:pt>
                  <c:pt idx="7">
                    <c:v>AĞU</c:v>
                  </c:pt>
                  <c:pt idx="8">
                    <c:v>EYL</c:v>
                  </c:pt>
                  <c:pt idx="9">
                    <c:v>EKİ</c:v>
                  </c:pt>
                  <c:pt idx="10">
                    <c:v>KAS</c:v>
                  </c:pt>
                  <c:pt idx="11">
                    <c:v>ARA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109909000</c:v>
                </c:pt>
                <c:pt idx="1">
                  <c:v>103156000</c:v>
                </c:pt>
                <c:pt idx="2">
                  <c:v>93905000</c:v>
                </c:pt>
                <c:pt idx="3">
                  <c:v>88894000</c:v>
                </c:pt>
                <c:pt idx="4">
                  <c:v>90587000</c:v>
                </c:pt>
                <c:pt idx="5">
                  <c:v>98578000</c:v>
                </c:pt>
                <c:pt idx="6">
                  <c:v>104441000</c:v>
                </c:pt>
                <c:pt idx="7">
                  <c:v>116694000</c:v>
                </c:pt>
                <c:pt idx="8">
                  <c:v>115188000</c:v>
                </c:pt>
                <c:pt idx="9">
                  <c:v>125680000</c:v>
                </c:pt>
                <c:pt idx="10">
                  <c:v>134005000</c:v>
                </c:pt>
                <c:pt idx="11">
                  <c:v>129930000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Personel G.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4DA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Personel G.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11302000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09728"/>
            <a:ext cx="9692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[DEMO] NOVA ENERJI VE YATIRIM A.Ş.  •  ARALIK 2026  •  HAFTALIK VERİ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149840" y="128016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NAKİT AKIŞ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" y="685800"/>
            <a:ext cx="3246120" cy="35204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804672"/>
            <a:ext cx="2953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[DEMO] Nova Enerji ve Yatırım A.Ş.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188720"/>
          <a:ext cx="295351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691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Dönem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 · ARALIK 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Kuruluş Tarihi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2014-11-20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YK Başkanı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Hakan ERDEM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YK Başkan V.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Pınar ŞAHİN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Yönetim Kurulu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Oğuz KARACA, Merve UYSAL, Emre GÜNEŞ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Genel Kurul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2026-03-18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Kredi Durumu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Ziraat Bankası 620 M TL · EBRD 45 M EUR · TSKB 180 M TL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677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patent (enerji depolama)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01168" y="434340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01168" y="4343400"/>
            <a:ext cx="82296" cy="1078992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445312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Gelir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65760" y="470916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₺155.465.000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65760" y="509320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1879092" y="434340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879092" y="4343400"/>
            <a:ext cx="82296" cy="10789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6" name="Text 13"/>
          <p:cNvSpPr/>
          <p:nvPr/>
        </p:nvSpPr>
        <p:spPr>
          <a:xfrm>
            <a:off x="2043684" y="445312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Toplam Gider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2043684" y="470916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₺129.930.000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043684" y="509320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Haftalık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201168" y="553212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01168" y="5532120"/>
            <a:ext cx="82296" cy="1078992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" y="564184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Nakit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65760" y="589788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₺25.535.000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628192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ARALIK 2026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1879092" y="5532120"/>
            <a:ext cx="1568196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1879092" y="5532120"/>
            <a:ext cx="82296" cy="107899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6" name="Text 23"/>
          <p:cNvSpPr/>
          <p:nvPr/>
        </p:nvSpPr>
        <p:spPr>
          <a:xfrm>
            <a:off x="2043684" y="5641848"/>
            <a:ext cx="13121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Bakiye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043684" y="5897880"/>
            <a:ext cx="13121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₺348.097.000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043684" y="6281928"/>
            <a:ext cx="13121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Dönem sonu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3611880" y="685800"/>
            <a:ext cx="457200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758184" y="786384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Gider Özeti</a:t>
            </a:r>
            <a:endParaRPr lang="en-US" sz="12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39896" y="1097280"/>
          <a:ext cx="4315968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868680"/>
                <a:gridCol w="868680"/>
                <a:gridCol w="8869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Kalem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Haftalık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Aylık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Yıllık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B4DA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Personel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Dışarıdan Sağ. Hiz.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Danışmanlık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Çeşitli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Vergi/Resim/Harçlar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Stok Maliyeti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Yatırımlara Ait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434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Finansmana Ait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 Faaliyetleri Kapsamında G.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dirty="0">
                          <a:solidFill>
                            <a:srgbClr val="37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Gider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 Mr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37455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Toplam Gelir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155 Mn ₺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7722"/>
                    </a:solidFill>
                  </a:tcPr>
                </a:tc>
              </a:tr>
            </a:tbl>
          </a:graphicData>
        </a:graphic>
      </p:graphicFrame>
      <p:sp>
        <p:nvSpPr>
          <p:cNvPr id="32" name="Shape 28"/>
          <p:cNvSpPr/>
          <p:nvPr/>
        </p:nvSpPr>
        <p:spPr>
          <a:xfrm>
            <a:off x="3611880" y="4480560"/>
            <a:ext cx="45720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33" name="Text 29"/>
          <p:cNvSpPr/>
          <p:nvPr/>
        </p:nvSpPr>
        <p:spPr>
          <a:xfrm>
            <a:off x="3758184" y="4572000"/>
            <a:ext cx="4279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Giriş / Çıkış Bilgisi (Aylık)</a:t>
            </a:r>
            <a:endParaRPr lang="en-US" sz="11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3703320" y="4828032"/>
          <a:ext cx="438912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0"/>
          <p:cNvSpPr/>
          <p:nvPr/>
        </p:nvSpPr>
        <p:spPr>
          <a:xfrm>
            <a:off x="8366760" y="685800"/>
            <a:ext cx="361188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8513064" y="804672"/>
            <a:ext cx="3319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Dönem Özeti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8513064" y="1188720"/>
            <a:ext cx="3319272" cy="841248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38" name="Shape 33"/>
          <p:cNvSpPr/>
          <p:nvPr/>
        </p:nvSpPr>
        <p:spPr>
          <a:xfrm>
            <a:off x="8513064" y="1188720"/>
            <a:ext cx="73152" cy="841248"/>
          </a:xfrm>
          <a:prstGeom prst="rect">
            <a:avLst/>
          </a:prstGeom>
          <a:solidFill>
            <a:srgbClr val="0B4DA8"/>
          </a:solidFill>
          <a:ln/>
        </p:spPr>
      </p:sp>
      <p:sp>
        <p:nvSpPr>
          <p:cNvPr id="39" name="Text 34"/>
          <p:cNvSpPr/>
          <p:nvPr/>
        </p:nvSpPr>
        <p:spPr>
          <a:xfrm>
            <a:off x="8695944" y="126187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Nakit Girişi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695944" y="14630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Yurt İçi Satışlar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8695944" y="173736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₺84.803.000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8513064" y="2148840"/>
            <a:ext cx="3319272" cy="841248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43" name="Shape 38"/>
          <p:cNvSpPr/>
          <p:nvPr/>
        </p:nvSpPr>
        <p:spPr>
          <a:xfrm>
            <a:off x="8513064" y="2148840"/>
            <a:ext cx="73152" cy="841248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44" name="Text 39"/>
          <p:cNvSpPr/>
          <p:nvPr/>
        </p:nvSpPr>
        <p:spPr>
          <a:xfrm>
            <a:off x="8695944" y="222199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Önemli Nakit Çıkışı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695944" y="24231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Yatırımlara Ait G.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8695944" y="269748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 · ₺41.623.000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8513064" y="3108960"/>
            <a:ext cx="3319272" cy="841248"/>
          </a:xfrm>
          <a:prstGeom prst="roundRect">
            <a:avLst>
              <a:gd name="adj" fmla="val 4348"/>
            </a:avLst>
          </a:prstGeom>
          <a:solidFill>
            <a:srgbClr val="F8FAFC"/>
          </a:solidFill>
          <a:ln/>
        </p:spPr>
      </p:sp>
      <p:sp>
        <p:nvSpPr>
          <p:cNvPr id="48" name="Shape 43"/>
          <p:cNvSpPr/>
          <p:nvPr/>
        </p:nvSpPr>
        <p:spPr>
          <a:xfrm>
            <a:off x="8513064" y="3108960"/>
            <a:ext cx="73152" cy="8412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9" name="Text 44"/>
          <p:cNvSpPr/>
          <p:nvPr/>
        </p:nvSpPr>
        <p:spPr>
          <a:xfrm>
            <a:off x="8695944" y="3182112"/>
            <a:ext cx="3063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Runaway</a:t>
            </a:r>
            <a:endParaRPr lang="en-US" sz="900" dirty="0"/>
          </a:p>
        </p:txBody>
      </p:sp>
      <p:sp>
        <p:nvSpPr>
          <p:cNvPr id="50" name="Text 45"/>
          <p:cNvSpPr/>
          <p:nvPr/>
        </p:nvSpPr>
        <p:spPr>
          <a:xfrm>
            <a:off x="8695944" y="3383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ay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8695944" y="3657600"/>
            <a:ext cx="3063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Nakit girişi olmadan mevcut bakiye ile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8366760" y="4343400"/>
            <a:ext cx="36118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7000"/>
              </a:srgbClr>
            </a:outerShdw>
          </a:effectLst>
        </p:spPr>
      </p:sp>
      <p:sp>
        <p:nvSpPr>
          <p:cNvPr id="53" name="Text 48"/>
          <p:cNvSpPr/>
          <p:nvPr/>
        </p:nvSpPr>
        <p:spPr>
          <a:xfrm>
            <a:off x="8513064" y="4443984"/>
            <a:ext cx="33192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Gider Dağılımı</a:t>
            </a:r>
            <a:endParaRPr lang="en-US" sz="1100" dirty="0"/>
          </a:p>
        </p:txBody>
      </p:sp>
      <p:graphicFrame>
        <p:nvGraphicFramePr>
          <p:cNvPr id="54" name="Chart 1" descr=""/>
          <p:cNvGraphicFramePr/>
          <p:nvPr/>
        </p:nvGraphicFramePr>
        <p:xfrm>
          <a:off x="8458200" y="4709160"/>
          <a:ext cx="342900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[DEMO] Nova Enerji ve Yatırım A.Ş. — ARALIK 2026</dc:title>
  <dc:subject>PptxGenJS Presentation</dc:subject>
  <dc:creator>İştirak Nakit Dashboard</dc:creator>
  <cp:lastModifiedBy>İştirak Nakit Dashboard</cp:lastModifiedBy>
  <cp:revision>1</cp:revision>
  <dcterms:created xsi:type="dcterms:W3CDTF">2026-08-12T15:16:52Z</dcterms:created>
  <dcterms:modified xsi:type="dcterms:W3CDTF">2026-08-12T15:16:52Z</dcterms:modified>
</cp:coreProperties>
</file>