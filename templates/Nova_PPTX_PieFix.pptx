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Giriş</c:v>
                </c:pt>
              </c:strCache>
            </c:strRef>
          </c:tx>
          <c:spPr>
            <a:solidFill>
              <a:srgbClr val="0B4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OCA</c:v>
                  </c:pt>
                  <c:pt idx="1">
                    <c:v>ŞUB</c:v>
                  </c:pt>
                  <c:pt idx="2">
                    <c:v>MAR</c:v>
                  </c:pt>
                  <c:pt idx="3">
                    <c:v>NİS</c:v>
                  </c:pt>
                  <c:pt idx="4">
                    <c:v>MAY</c:v>
                  </c:pt>
                  <c:pt idx="5">
                    <c:v>HAZ</c:v>
                  </c:pt>
                  <c:pt idx="6">
                    <c:v>TEM</c:v>
                  </c:pt>
                  <c:pt idx="7">
                    <c:v>AĞU</c:v>
                  </c:pt>
                  <c:pt idx="8">
                    <c:v>EYL</c:v>
                  </c:pt>
                  <c:pt idx="9">
                    <c:v>EKİ</c:v>
                  </c:pt>
                  <c:pt idx="10">
                    <c:v>KAS</c:v>
                  </c:pt>
                  <c:pt idx="11">
                    <c:v>ARA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132045000</c:v>
                </c:pt>
                <c:pt idx="1">
                  <c:v>115502000</c:v>
                </c:pt>
                <c:pt idx="2">
                  <c:v>112486000</c:v>
                </c:pt>
                <c:pt idx="3">
                  <c:v>99295000</c:v>
                </c:pt>
                <c:pt idx="4">
                  <c:v>93729000</c:v>
                </c:pt>
                <c:pt idx="5">
                  <c:v>107181000</c:v>
                </c:pt>
                <c:pt idx="6">
                  <c:v>122457000</c:v>
                </c:pt>
                <c:pt idx="7">
                  <c:v>114736000</c:v>
                </c:pt>
                <c:pt idx="8">
                  <c:v>124060000</c:v>
                </c:pt>
                <c:pt idx="9">
                  <c:v>141827000</c:v>
                </c:pt>
                <c:pt idx="10">
                  <c:v>130281000</c:v>
                </c:pt>
                <c:pt idx="11">
                  <c:v>155465000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Çıkış</c:v>
                </c:pt>
              </c:strCache>
            </c:strRef>
          </c:tx>
          <c:spPr>
            <a:solidFill>
              <a:srgbClr val="E87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OCA</c:v>
                  </c:pt>
                  <c:pt idx="1">
                    <c:v>ŞUB</c:v>
                  </c:pt>
                  <c:pt idx="2">
                    <c:v>MAR</c:v>
                  </c:pt>
                  <c:pt idx="3">
                    <c:v>NİS</c:v>
                  </c:pt>
                  <c:pt idx="4">
                    <c:v>MAY</c:v>
                  </c:pt>
                  <c:pt idx="5">
                    <c:v>HAZ</c:v>
                  </c:pt>
                  <c:pt idx="6">
                    <c:v>TEM</c:v>
                  </c:pt>
                  <c:pt idx="7">
                    <c:v>AĞU</c:v>
                  </c:pt>
                  <c:pt idx="8">
                    <c:v>EYL</c:v>
                  </c:pt>
                  <c:pt idx="9">
                    <c:v>EKİ</c:v>
                  </c:pt>
                  <c:pt idx="10">
                    <c:v>KAS</c:v>
                  </c:pt>
                  <c:pt idx="11">
                    <c:v>ARA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109909000</c:v>
                </c:pt>
                <c:pt idx="1">
                  <c:v>103156000</c:v>
                </c:pt>
                <c:pt idx="2">
                  <c:v>93905000</c:v>
                </c:pt>
                <c:pt idx="3">
                  <c:v>88894000</c:v>
                </c:pt>
                <c:pt idx="4">
                  <c:v>90587000</c:v>
                </c:pt>
                <c:pt idx="5">
                  <c:v>98578000</c:v>
                </c:pt>
                <c:pt idx="6">
                  <c:v>104441000</c:v>
                </c:pt>
                <c:pt idx="7">
                  <c:v>116694000</c:v>
                </c:pt>
                <c:pt idx="8">
                  <c:v>115188000</c:v>
                </c:pt>
                <c:pt idx="9">
                  <c:v>125680000</c:v>
                </c:pt>
                <c:pt idx="10">
                  <c:v>134005000</c:v>
                </c:pt>
                <c:pt idx="11">
                  <c:v>129930000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Gider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4DA8"/>
              </a:solidFill>
              <a:effectLst/>
            </c:spPr>
          </c:dPt>
          <c:dPt>
            <c:idx val="1"/>
            <c:bubble3D val="0"/>
            <c:spPr>
              <a:solidFill>
                <a:srgbClr val="E87722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6366F1"/>
              </a:solidFill>
              <a:effectLst/>
            </c:spPr>
          </c:dPt>
          <c:dPt>
            <c:idx val="4"/>
            <c:bubble3D val="0"/>
            <c:spPr>
              <a:solidFill>
                <a:srgbClr val="E11D48"/>
              </a:solidFill>
              <a:effectLst/>
            </c:spPr>
          </c:dPt>
          <c:dPt>
            <c:idx val="5"/>
            <c:bubble3D val="0"/>
            <c:spPr>
              <a:solidFill>
                <a:srgbClr val="CA8A04"/>
              </a:solidFill>
              <a:effectLst/>
            </c:spPr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bubble3D val="0"/>
            <c:spPr>
              <a:solidFill>
                <a:srgbClr val="0891B2"/>
              </a:solidFill>
              <a:effectLst/>
            </c:spPr>
          </c:dPt>
          <c:dPt>
            <c:idx val="8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Yatırımlara Ait G.</c:v>
                </c:pt>
                <c:pt idx="1">
                  <c:v>Finansmana Ait G.</c:v>
                </c:pt>
                <c:pt idx="2">
                  <c:v>Vergi/Resim/Harçlar</c:v>
                </c:pt>
                <c:pt idx="3">
                  <c:v>Stok Maliyeti</c:v>
                </c:pt>
                <c:pt idx="4">
                  <c:v>Personel G.</c:v>
                </c:pt>
                <c:pt idx="5">
                  <c:v>Proje Faaliyetleri Kapsamında G.</c:v>
                </c:pt>
                <c:pt idx="6">
                  <c:v>Çeşitli G.</c:v>
                </c:pt>
                <c:pt idx="7">
                  <c:v>Dışarıdan Sağ. Hiz.</c:v>
                </c:pt>
                <c:pt idx="8">
                  <c:v>Danışmanlık G.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41623000</c:v>
                </c:pt>
                <c:pt idx="1">
                  <c:v>20861000</c:v>
                </c:pt>
                <c:pt idx="2">
                  <c:v>12930000</c:v>
                </c:pt>
                <c:pt idx="3">
                  <c:v>12570000</c:v>
                </c:pt>
                <c:pt idx="4">
                  <c:v>11302000</c:v>
                </c:pt>
                <c:pt idx="5">
                  <c:v>9610000</c:v>
                </c:pt>
                <c:pt idx="6">
                  <c:v>8435000</c:v>
                </c:pt>
                <c:pt idx="7">
                  <c:v>7875000</c:v>
                </c:pt>
                <c:pt idx="8">
                  <c:v>4724000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09728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[DEMO] NOVA ENERJI VE YATIRIM A.Ş.  •  ARALIK 2026  •  HAFTALIK VERİ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149840" y="12801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NAKİT AKIŞ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685800"/>
            <a:ext cx="3246120" cy="35204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804672"/>
            <a:ext cx="2953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[DEMO] Nova Enerji ve Yatırım A.Ş.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188720"/>
          <a:ext cx="295351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Dönem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Haftalık · ARALIK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Kuruluş Tarihi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2014-11-20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YK Başkanı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Hakan ERDEM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YK Başkan V.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Pınar ŞAHİN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Yönetim Kurulu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Oğuz KARACA, Merve UYSAL, Emre GÜNEŞ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Genel Kurul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2026-03-18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 Durumu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Ziraat Bankası 620 M TL · EBRD 45 M EUR · TSKB 180 M TL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patent (enerji depolama)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01168" y="4343400"/>
            <a:ext cx="1568196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1168" y="4343400"/>
            <a:ext cx="82296" cy="1078992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4453128"/>
            <a:ext cx="13121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Gelir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4709160"/>
            <a:ext cx="13121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₺155.465.000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5093208"/>
            <a:ext cx="13121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Haftalık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879092" y="4343400"/>
            <a:ext cx="1568196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79092" y="4343400"/>
            <a:ext cx="82296" cy="10789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6" name="Text 13"/>
          <p:cNvSpPr/>
          <p:nvPr/>
        </p:nvSpPr>
        <p:spPr>
          <a:xfrm>
            <a:off x="2043684" y="4453128"/>
            <a:ext cx="13121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Gider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43684" y="4709160"/>
            <a:ext cx="13121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₺129.930.000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043684" y="5093208"/>
            <a:ext cx="13121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Haftalık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01168" y="5532120"/>
            <a:ext cx="1568196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01168" y="5532120"/>
            <a:ext cx="82296" cy="1078992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5641848"/>
            <a:ext cx="13121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Nakit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5897880"/>
            <a:ext cx="13121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₺25.535.000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" y="6281928"/>
            <a:ext cx="13121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ARALIK 2026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879092" y="5532120"/>
            <a:ext cx="1568196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879092" y="5532120"/>
            <a:ext cx="82296" cy="10789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6" name="Text 23"/>
          <p:cNvSpPr/>
          <p:nvPr/>
        </p:nvSpPr>
        <p:spPr>
          <a:xfrm>
            <a:off x="2043684" y="5641848"/>
            <a:ext cx="13121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Nakit Bakiye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043684" y="5897880"/>
            <a:ext cx="13121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₺348.097.000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043684" y="6281928"/>
            <a:ext cx="13121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Dönem sonu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611880" y="685800"/>
            <a:ext cx="45720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758184" y="786384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Gider Özeti</a:t>
            </a:r>
            <a:endParaRPr lang="en-US" sz="12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39896" y="1097280"/>
          <a:ext cx="4315968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868680"/>
                <a:gridCol w="8869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Haftalık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Aylık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Yıllık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Personel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Dışarıdan Sağ. Hiz.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Danışmanlık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Çeşitli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Vergi/Resim/Harçlar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Stok Maliyeti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Yatırımlara Ait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Finansmana Ait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 Faaliyetleri Kapsamında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Toplam Gider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Mr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Toplam Gelir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3611880" y="4480560"/>
            <a:ext cx="45720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3758184" y="4572000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Nakit Giriş / Çıkış Bilgisi (Aylık)</a:t>
            </a:r>
            <a:endParaRPr lang="en-US" sz="11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3703320" y="4828032"/>
          <a:ext cx="43891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0"/>
          <p:cNvSpPr/>
          <p:nvPr/>
        </p:nvSpPr>
        <p:spPr>
          <a:xfrm>
            <a:off x="8366760" y="685800"/>
            <a:ext cx="361188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8513064" y="804672"/>
            <a:ext cx="3319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Dönem Özeti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8513064" y="1188720"/>
            <a:ext cx="3319272" cy="841248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</p:spPr>
      </p:sp>
      <p:sp>
        <p:nvSpPr>
          <p:cNvPr id="38" name="Shape 33"/>
          <p:cNvSpPr/>
          <p:nvPr/>
        </p:nvSpPr>
        <p:spPr>
          <a:xfrm>
            <a:off x="8513064" y="1188720"/>
            <a:ext cx="73152" cy="841248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39" name="Text 34"/>
          <p:cNvSpPr/>
          <p:nvPr/>
        </p:nvSpPr>
        <p:spPr>
          <a:xfrm>
            <a:off x="8695944" y="1261872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Önemli Nakit Girişi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8695944" y="14630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Yurt İçi Satışlar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8695944" y="173736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₺84.803.000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8513064" y="2148840"/>
            <a:ext cx="3319272" cy="841248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</p:spPr>
      </p:sp>
      <p:sp>
        <p:nvSpPr>
          <p:cNvPr id="43" name="Shape 38"/>
          <p:cNvSpPr/>
          <p:nvPr/>
        </p:nvSpPr>
        <p:spPr>
          <a:xfrm>
            <a:off x="8513064" y="2148840"/>
            <a:ext cx="73152" cy="84124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4" name="Text 39"/>
          <p:cNvSpPr/>
          <p:nvPr/>
        </p:nvSpPr>
        <p:spPr>
          <a:xfrm>
            <a:off x="8695944" y="2221992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Önemli Nakit Çıkışı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8695944" y="24231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Yatırımlara Ait G.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8695944" y="269748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· ₺41.623.000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8513064" y="3108960"/>
            <a:ext cx="3319272" cy="841248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</p:spPr>
      </p:sp>
      <p:sp>
        <p:nvSpPr>
          <p:cNvPr id="48" name="Shape 43"/>
          <p:cNvSpPr/>
          <p:nvPr/>
        </p:nvSpPr>
        <p:spPr>
          <a:xfrm>
            <a:off x="8513064" y="3108960"/>
            <a:ext cx="73152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4"/>
          <p:cNvSpPr/>
          <p:nvPr/>
        </p:nvSpPr>
        <p:spPr>
          <a:xfrm>
            <a:off x="8695944" y="3182112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Runaway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8695944" y="33832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 ay</a:t>
            </a:r>
            <a:endParaRPr lang="en-US" sz="1300" dirty="0"/>
          </a:p>
        </p:txBody>
      </p:sp>
      <p:sp>
        <p:nvSpPr>
          <p:cNvPr id="51" name="Text 46"/>
          <p:cNvSpPr/>
          <p:nvPr/>
        </p:nvSpPr>
        <p:spPr>
          <a:xfrm>
            <a:off x="8695944" y="365760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Nakit girişi olmadan mevcut bakiye ile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8366760" y="434340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53" name="Text 48"/>
          <p:cNvSpPr/>
          <p:nvPr/>
        </p:nvSpPr>
        <p:spPr>
          <a:xfrm>
            <a:off x="8513064" y="4443984"/>
            <a:ext cx="3319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Gider Dağılımı</a:t>
            </a:r>
            <a:endParaRPr lang="en-US" sz="1100" dirty="0"/>
          </a:p>
        </p:txBody>
      </p:sp>
      <p:graphicFrame>
        <p:nvGraphicFramePr>
          <p:cNvPr id="54" name="Chart 1" descr=""/>
          <p:cNvGraphicFramePr/>
          <p:nvPr/>
        </p:nvGraphicFramePr>
        <p:xfrm>
          <a:off x="8412480" y="4681728"/>
          <a:ext cx="17830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5" name="Shape 49"/>
          <p:cNvSpPr/>
          <p:nvPr/>
        </p:nvSpPr>
        <p:spPr>
          <a:xfrm>
            <a:off x="10241280" y="4773168"/>
            <a:ext cx="109728" cy="109728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56" name="Text 50"/>
          <p:cNvSpPr/>
          <p:nvPr/>
        </p:nvSpPr>
        <p:spPr>
          <a:xfrm>
            <a:off x="10415016" y="47365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Yatırımlara Ait G.  32%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10241280" y="4956048"/>
            <a:ext cx="109728" cy="10972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8" name="Text 52"/>
          <p:cNvSpPr/>
          <p:nvPr/>
        </p:nvSpPr>
        <p:spPr>
          <a:xfrm>
            <a:off x="10415016" y="491947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Finansmana Ait G.  16%</a:t>
            </a:r>
            <a:endParaRPr lang="en-US" sz="800" dirty="0"/>
          </a:p>
        </p:txBody>
      </p:sp>
      <p:sp>
        <p:nvSpPr>
          <p:cNvPr id="59" name="Shape 53"/>
          <p:cNvSpPr/>
          <p:nvPr/>
        </p:nvSpPr>
        <p:spPr>
          <a:xfrm>
            <a:off x="10241280" y="5138928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0" name="Text 54"/>
          <p:cNvSpPr/>
          <p:nvPr/>
        </p:nvSpPr>
        <p:spPr>
          <a:xfrm>
            <a:off x="10415016" y="510235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Vergi/Resim/Harçlar  10%</a:t>
            </a:r>
            <a:endParaRPr lang="en-US" sz="800" dirty="0"/>
          </a:p>
        </p:txBody>
      </p:sp>
      <p:sp>
        <p:nvSpPr>
          <p:cNvPr id="61" name="Shape 55"/>
          <p:cNvSpPr/>
          <p:nvPr/>
        </p:nvSpPr>
        <p:spPr>
          <a:xfrm>
            <a:off x="10241280" y="5321808"/>
            <a:ext cx="1097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2" name="Text 56"/>
          <p:cNvSpPr/>
          <p:nvPr/>
        </p:nvSpPr>
        <p:spPr>
          <a:xfrm>
            <a:off x="10415016" y="528523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Maliyeti  10%</a:t>
            </a:r>
            <a:endParaRPr lang="en-US" sz="800" dirty="0"/>
          </a:p>
        </p:txBody>
      </p:sp>
      <p:sp>
        <p:nvSpPr>
          <p:cNvPr id="63" name="Shape 57"/>
          <p:cNvSpPr/>
          <p:nvPr/>
        </p:nvSpPr>
        <p:spPr>
          <a:xfrm>
            <a:off x="10241280" y="5504688"/>
            <a:ext cx="109728" cy="10972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64" name="Text 58"/>
          <p:cNvSpPr/>
          <p:nvPr/>
        </p:nvSpPr>
        <p:spPr>
          <a:xfrm>
            <a:off x="10415016" y="546811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Personel G.  9%</a:t>
            </a:r>
            <a:endParaRPr lang="en-US" sz="800" dirty="0"/>
          </a:p>
        </p:txBody>
      </p:sp>
      <p:sp>
        <p:nvSpPr>
          <p:cNvPr id="65" name="Shape 59"/>
          <p:cNvSpPr/>
          <p:nvPr/>
        </p:nvSpPr>
        <p:spPr>
          <a:xfrm>
            <a:off x="10241280" y="5687568"/>
            <a:ext cx="109728" cy="10972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66" name="Text 60"/>
          <p:cNvSpPr/>
          <p:nvPr/>
        </p:nvSpPr>
        <p:spPr>
          <a:xfrm>
            <a:off x="10415016" y="56509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 Faaliyetleri Kapsamında G.  7%</a:t>
            </a:r>
            <a:endParaRPr lang="en-US" sz="800" dirty="0"/>
          </a:p>
        </p:txBody>
      </p:sp>
      <p:sp>
        <p:nvSpPr>
          <p:cNvPr id="67" name="Shape 61"/>
          <p:cNvSpPr/>
          <p:nvPr/>
        </p:nvSpPr>
        <p:spPr>
          <a:xfrm>
            <a:off x="10241280" y="5870448"/>
            <a:ext cx="109728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8" name="Text 62"/>
          <p:cNvSpPr/>
          <p:nvPr/>
        </p:nvSpPr>
        <p:spPr>
          <a:xfrm>
            <a:off x="10415016" y="583387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Çeşitli G.  6%</a:t>
            </a:r>
            <a:endParaRPr lang="en-US" sz="800" dirty="0"/>
          </a:p>
        </p:txBody>
      </p:sp>
      <p:sp>
        <p:nvSpPr>
          <p:cNvPr id="69" name="Shape 63"/>
          <p:cNvSpPr/>
          <p:nvPr/>
        </p:nvSpPr>
        <p:spPr>
          <a:xfrm>
            <a:off x="10241280" y="605332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0" name="Text 64"/>
          <p:cNvSpPr/>
          <p:nvPr/>
        </p:nvSpPr>
        <p:spPr>
          <a:xfrm>
            <a:off x="10415016" y="601675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Dışarıdan Sağ. Hiz.  6%</a:t>
            </a:r>
            <a:endParaRPr lang="en-US" sz="800" dirty="0"/>
          </a:p>
        </p:txBody>
      </p:sp>
      <p:sp>
        <p:nvSpPr>
          <p:cNvPr id="71" name="Shape 65"/>
          <p:cNvSpPr/>
          <p:nvPr/>
        </p:nvSpPr>
        <p:spPr>
          <a:xfrm>
            <a:off x="10241280" y="6236208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2" name="Text 66"/>
          <p:cNvSpPr/>
          <p:nvPr/>
        </p:nvSpPr>
        <p:spPr>
          <a:xfrm>
            <a:off x="10415016" y="619963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Danışmanlık G.  4%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[DEMO] Nova Enerji ve Yatırım A.Ş. — ARALIK 2026</dc:title>
  <dc:subject>PptxGenJS Presentation</dc:subject>
  <dc:creator>İştirak Nakit Dashboard</dc:creator>
  <cp:lastModifiedBy>İştirak Nakit Dashboard</cp:lastModifiedBy>
  <cp:revision>1</cp:revision>
  <dcterms:created xsi:type="dcterms:W3CDTF">2026-08-12T15:21:58Z</dcterms:created>
  <dcterms:modified xsi:type="dcterms:W3CDTF">2026-08-12T15:21:58Z</dcterms:modified>
</cp:coreProperties>
</file>