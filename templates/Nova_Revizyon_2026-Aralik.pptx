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Personel G.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D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Personel G.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11302000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Giriş</c:v>
                </c:pt>
              </c:strCache>
            </c:strRef>
          </c:tx>
          <c:spPr>
            <a:solidFill>
              <a:srgbClr val="0B4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NİS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EKİ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132045000</c:v>
                </c:pt>
                <c:pt idx="1">
                  <c:v>115502000</c:v>
                </c:pt>
                <c:pt idx="2">
                  <c:v>112486000</c:v>
                </c:pt>
                <c:pt idx="3">
                  <c:v>99295000</c:v>
                </c:pt>
                <c:pt idx="4">
                  <c:v>93729000</c:v>
                </c:pt>
                <c:pt idx="5">
                  <c:v>107181000</c:v>
                </c:pt>
                <c:pt idx="6">
                  <c:v>122457000</c:v>
                </c:pt>
                <c:pt idx="7">
                  <c:v>114736000</c:v>
                </c:pt>
                <c:pt idx="8">
                  <c:v>124060000</c:v>
                </c:pt>
                <c:pt idx="9">
                  <c:v>141827000</c:v>
                </c:pt>
                <c:pt idx="10">
                  <c:v>130281000</c:v>
                </c:pt>
                <c:pt idx="11">
                  <c:v>155465000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Çıkış</c:v>
                </c:pt>
              </c:strCache>
            </c:strRef>
          </c:tx>
          <c:spPr>
            <a:solidFill>
              <a:srgbClr val="E87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NİS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EKİ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109909000</c:v>
                </c:pt>
                <c:pt idx="1">
                  <c:v>103156000</c:v>
                </c:pt>
                <c:pt idx="2">
                  <c:v>93905000</c:v>
                </c:pt>
                <c:pt idx="3">
                  <c:v>88894000</c:v>
                </c:pt>
                <c:pt idx="4">
                  <c:v>90587000</c:v>
                </c:pt>
                <c:pt idx="5">
                  <c:v>98578000</c:v>
                </c:pt>
                <c:pt idx="6">
                  <c:v>104441000</c:v>
                </c:pt>
                <c:pt idx="7">
                  <c:v>116694000</c:v>
                </c:pt>
                <c:pt idx="8">
                  <c:v>115188000</c:v>
                </c:pt>
                <c:pt idx="9">
                  <c:v>125680000</c:v>
                </c:pt>
                <c:pt idx="10">
                  <c:v>134005000</c:v>
                </c:pt>
                <c:pt idx="11">
                  <c:v>129930000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[DEMO] NOVA ENERJI VE YATIRIM A.Ş.  •  ARALIK 2026  •  HAFTALIK VERİ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0" y="164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NAKİT AKIŞ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[DEMO] Nova Enerji ve Yatırım A.Ş.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2834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Dönem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 · ARALIK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Kuruluş Tarihi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2014-11-20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YK Başkanı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Hakan ERDEM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YK Başkan V.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Pınar ŞAHİN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Yönetim Kurulu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Oğuz KARACA, Merve UYSAL, Emre GÜNEŞ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Genel Kurul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2026-03-18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 Durumu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Ziraat Bankası 620 M TL · EBRD 45 M EUR · TSKB 180 M TL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patent (enerji depolama)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88620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3977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Gider Özeti</a:t>
            </a:r>
            <a:endParaRPr lang="en-US" sz="1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97680"/>
          <a:ext cx="292608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21792"/>
                <a:gridCol w="621792"/>
                <a:gridCol w="6309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Yıllık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Personel G.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Dışarıdan Sağ. Hiz.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Danışmanlık G.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Çeşitli G.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Vergi/Resim/Harçlar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Stok Maliyeti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Yatırımlara Ait G.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Finansmana Ait G.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 Faaliyetleri Kapsamında G.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 Mn 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Gider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Mr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Gelir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566160" y="822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66160" y="822960"/>
            <a:ext cx="91440" cy="914400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14" name="Text 10"/>
          <p:cNvSpPr/>
          <p:nvPr/>
        </p:nvSpPr>
        <p:spPr>
          <a:xfrm>
            <a:off x="3749040" y="914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Gelir (Haftalık)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74904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₺155.465.000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669280" y="822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0" y="822960"/>
            <a:ext cx="91440" cy="914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8" name="Text 14"/>
          <p:cNvSpPr/>
          <p:nvPr/>
        </p:nvSpPr>
        <p:spPr>
          <a:xfrm>
            <a:off x="5852160" y="914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Gider (Haftalık)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8521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₺129.930.000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772400" y="822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0" y="822960"/>
            <a:ext cx="91440" cy="914400"/>
          </a:xfrm>
          <a:prstGeom prst="rect">
            <a:avLst/>
          </a:prstGeom>
          <a:solidFill>
            <a:srgbClr val="374556"/>
          </a:solidFill>
          <a:ln/>
        </p:spPr>
      </p:sp>
      <p:sp>
        <p:nvSpPr>
          <p:cNvPr id="22" name="Text 18"/>
          <p:cNvSpPr/>
          <p:nvPr/>
        </p:nvSpPr>
        <p:spPr>
          <a:xfrm>
            <a:off x="7955280" y="914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Nakit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9552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₺25.535.000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9875520" y="822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875520" y="822960"/>
            <a:ext cx="914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2"/>
          <p:cNvSpPr/>
          <p:nvPr/>
        </p:nvSpPr>
        <p:spPr>
          <a:xfrm>
            <a:off x="10058400" y="914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Bakiye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05840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₺348.097.000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566160" y="192024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370332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Gider Dağılımı</a:t>
            </a:r>
            <a:endParaRPr lang="en-US" sz="11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749040" y="233172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6"/>
          <p:cNvSpPr/>
          <p:nvPr/>
        </p:nvSpPr>
        <p:spPr>
          <a:xfrm>
            <a:off x="7863840" y="192024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800100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Dönem Özeti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001000" y="2331720"/>
            <a:ext cx="73152" cy="658368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34" name="Text 29"/>
          <p:cNvSpPr/>
          <p:nvPr/>
        </p:nvSpPr>
        <p:spPr>
          <a:xfrm>
            <a:off x="8183880" y="23317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Nakit Girişi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183880" y="2514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Yurt İçi Satışlar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183880" y="27523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₺84.803.000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8001000" y="3108960"/>
            <a:ext cx="73152" cy="65836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8" name="Text 33"/>
          <p:cNvSpPr/>
          <p:nvPr/>
        </p:nvSpPr>
        <p:spPr>
          <a:xfrm>
            <a:off x="8183880" y="31089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Nakit Çıkışı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8183880" y="32918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Yatırımlara Ait G.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183880" y="35295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· ₺41.623.000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8001000" y="3886200"/>
            <a:ext cx="7315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37"/>
          <p:cNvSpPr/>
          <p:nvPr/>
        </p:nvSpPr>
        <p:spPr>
          <a:xfrm>
            <a:off x="8183880" y="3886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8183880" y="40690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ay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8183880" y="43068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girişi olmadan mevcut bakiye ile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3566160" y="4892040"/>
            <a:ext cx="8412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6" name="Text 41"/>
          <p:cNvSpPr/>
          <p:nvPr/>
        </p:nvSpPr>
        <p:spPr>
          <a:xfrm>
            <a:off x="3703320" y="4937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Nakit Giriş / Çıkış</a:t>
            </a:r>
            <a:endParaRPr lang="en-US" sz="1100" dirty="0"/>
          </a:p>
        </p:txBody>
      </p:sp>
      <p:graphicFrame>
        <p:nvGraphicFramePr>
          <p:cNvPr id="47" name="Chart 1" descr=""/>
          <p:cNvGraphicFramePr/>
          <p:nvPr/>
        </p:nvGraphicFramePr>
        <p:xfrm>
          <a:off x="3703320" y="5212080"/>
          <a:ext cx="813816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[DEMO] Nova Enerji ve Yatırım A.Ş. — ARALIK 2026</dc:title>
  <dc:subject>PptxGenJS Presentation</dc:subject>
  <dc:creator>İştirak Nakit Dashboard</dc:creator>
  <cp:lastModifiedBy>İştirak Nakit Dashboard</cp:lastModifiedBy>
  <cp:revision>1</cp:revision>
  <dcterms:created xsi:type="dcterms:W3CDTF">2026-08-12T14:23:19Z</dcterms:created>
  <dcterms:modified xsi:type="dcterms:W3CDTF">2026-08-12T14:23:19Z</dcterms:modified>
</cp:coreProperties>
</file>