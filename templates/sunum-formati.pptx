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0" r:id="rId1"/>
  </p:sldMasterIdLst>
  <p:notesMasterIdLst>
    <p:notesMasterId r:id="rId3"/>
  </p:notesMasterIdLst>
  <p:sldIdLst>
    <p:sldId id="4694" r:id="rId2"/>
  </p:sldIdLst>
  <p:sldSz cx="24377650" cy="13716000"/>
  <p:notesSz cx="6797675" cy="9926638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5" pos="14470" userDrawn="1">
          <p15:clr>
            <a:srgbClr val="A4A3A4"/>
          </p15:clr>
        </p15:guide>
        <p15:guide id="52" pos="7678" userDrawn="1">
          <p15:clr>
            <a:srgbClr val="A4A3A4"/>
          </p15:clr>
        </p15:guide>
        <p15:guide id="53" orient="horz" pos="4320" userDrawn="1">
          <p15:clr>
            <a:srgbClr val="A4A3A4"/>
          </p15:clr>
        </p15:guide>
        <p15:guide id="55" pos="12526" userDrawn="1">
          <p15:clr>
            <a:srgbClr val="A4A3A4"/>
          </p15:clr>
        </p15:guide>
        <p15:guide id="56" orient="horz" pos="69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urkan Kemal ALTINOK" initials="FKA" lastIdx="1" clrIdx="0">
    <p:extLst>
      <p:ext uri="{19B8F6BF-5375-455C-9EA6-DF929625EA0E}">
        <p15:presenceInfo xmlns:p15="http://schemas.microsoft.com/office/powerpoint/2012/main" userId="S-1-5-21-311526170-1565308293-1121247681-310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9966"/>
    <a:srgbClr val="009900"/>
    <a:srgbClr val="FF0000"/>
    <a:srgbClr val="BDDB90"/>
    <a:srgbClr val="FFBE76"/>
    <a:srgbClr val="8F5722"/>
    <a:srgbClr val="F1EEF4"/>
    <a:srgbClr val="5693D7"/>
    <a:srgbClr val="337E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28" autoAdjust="0"/>
    <p:restoredTop sz="95256" autoAdjust="0"/>
  </p:normalViewPr>
  <p:slideViewPr>
    <p:cSldViewPr snapToGrid="0" snapToObjects="1">
      <p:cViewPr varScale="1">
        <p:scale>
          <a:sx n="79" d="100"/>
          <a:sy n="79" d="100"/>
        </p:scale>
        <p:origin x="568" y="92"/>
      </p:cViewPr>
      <p:guideLst>
        <p:guide pos="14470"/>
        <p:guide pos="7678"/>
        <p:guide orient="horz" pos="4320"/>
        <p:guide pos="12526"/>
        <p:guide orient="horz" pos="6984"/>
      </p:guideLst>
    </p:cSldViewPr>
  </p:slideViewPr>
  <p:notesTextViewPr>
    <p:cViewPr>
      <p:scale>
        <a:sx n="20" d="100"/>
        <a:sy n="2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2511499598542125E-2"/>
          <c:y val="2.642004464998025E-2"/>
          <c:w val="0.51727093160921578"/>
          <c:h val="0.97357995535001973"/>
        </c:manualLayout>
      </c:layout>
      <c:doughnutChart>
        <c:varyColors val="1"/>
        <c:ser>
          <c:idx val="0"/>
          <c:order val="0"/>
          <c:tx>
            <c:strRef>
              <c:f>Sheet1!$A$1</c:f>
              <c:strCache>
                <c:ptCount val="1"/>
                <c:pt idx="0">
                  <c:v> 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B3F-477B-8CBE-A7FE2E6D524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B3F-477B-8CBE-A7FE2E6D524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B3F-477B-8CBE-A7FE2E6D5248}"/>
              </c:ext>
            </c:extLst>
          </c:dPt>
          <c:dLbls>
            <c:delete val="1"/>
          </c:dLbls>
          <c:cat>
            <c:strRef>
              <c:f>Sheet1!$A$2:$A$8</c:f>
              <c:strCache>
                <c:ptCount val="3"/>
                <c:pt idx="0">
                  <c:v>aaa</c:v>
                </c:pt>
                <c:pt idx="1">
                  <c:v>bbb</c:v>
                </c:pt>
                <c:pt idx="2">
                  <c:v>ccc</c:v>
                </c:pt>
              </c:strCache>
            </c:strRef>
          </c:cat>
          <c:val>
            <c:numRef>
              <c:f>Sheet1!$A$2:$A$8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Sheet1!$A$5</c15:sqref>
                  <c15:spPr xmlns:c15="http://schemas.microsoft.com/office/drawing/2012/chart">
                    <a:solidFill>
                      <a:schemeClr val="accent4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15:spPr>
                  <c15:bubble3D val="0"/>
                </c15:categoryFilterException>
                <c15:categoryFilterException>
                  <c15:sqref>Sheet1!$A$6</c15:sqref>
                  <c15:spPr xmlns:c15="http://schemas.microsoft.com/office/drawing/2012/chart">
                    <a:solidFill>
                      <a:schemeClr val="accent5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15:spPr>
                  <c15:bubble3D val="0"/>
                </c15:categoryFilterException>
                <c15:categoryFilterException>
                  <c15:sqref>Sheet1!$A$7</c15:sqref>
                  <c15:spPr xmlns:c15="http://schemas.microsoft.com/office/drawing/2012/chart">
                    <a:solidFill>
                      <a:schemeClr val="accent6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15:spPr>
                  <c15:bubble3D val="0"/>
                </c15:categoryFilterException>
                <c15:categoryFilterException>
                  <c15:sqref>Sheet1!$A$8</c15:sqref>
                  <c15:spPr xmlns:c15="http://schemas.microsoft.com/office/drawing/2012/chart">
                    <a:solidFill>
                      <a:schemeClr val="accent1">
                        <a:lumMod val="60000"/>
                      </a:schemeClr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15:spPr>
                  <c15:bubble3D val="0"/>
                </c15:categoryFilterException>
              </c15:categoryFilterExceptions>
            </c:ext>
            <c:ext xmlns:c16="http://schemas.microsoft.com/office/drawing/2014/chart" uri="{C3380CC4-5D6E-409C-BE32-E72D297353CC}">
              <c16:uniqueId val="{0000000E-4B3F-477B-8CBE-A7FE2E6D5248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Oran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4B3F-477B-8CBE-A7FE2E6D524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2-4B3F-477B-8CBE-A7FE2E6D524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4-4B3F-477B-8CBE-A7FE2E6D5248}"/>
              </c:ext>
            </c:extLst>
          </c:dPt>
          <c:dLbls>
            <c:dLbl>
              <c:idx val="0"/>
              <c:layout>
                <c:manualLayout>
                  <c:x val="9.1640047803674976E-2"/>
                  <c:y val="-3.6601351027392329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4B3F-477B-8CBE-A7FE2E6D5248}"/>
                </c:ext>
              </c:extLst>
            </c:dLbl>
            <c:dLbl>
              <c:idx val="1"/>
              <c:layout>
                <c:manualLayout>
                  <c:x val="9.3369105309404635E-2"/>
                  <c:y val="3.327395547944744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2104363732705687E-2"/>
                      <c:h val="9.747618357686636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2-4B3F-477B-8CBE-A7FE2E6D5248}"/>
                </c:ext>
              </c:extLst>
            </c:dLbl>
            <c:dLbl>
              <c:idx val="2"/>
              <c:layout>
                <c:manualLayout>
                  <c:x val="-9.1865842536413389E-2"/>
                  <c:y val="0.14120190325276796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4B3F-477B-8CBE-A7FE2E6D52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tr-T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3"/>
                <c:pt idx="0">
                  <c:v>aaa</c:v>
                </c:pt>
                <c:pt idx="1">
                  <c:v>bbb</c:v>
                </c:pt>
                <c:pt idx="2">
                  <c:v>ccc</c:v>
                </c:pt>
              </c:strCache>
            </c:strRef>
          </c:cat>
          <c:val>
            <c:numRef>
              <c:f>Sheet1!$B$2:$B$8</c:f>
              <c:numCache>
                <c:formatCode>0.00%</c:formatCode>
                <c:ptCount val="3"/>
                <c:pt idx="0">
                  <c:v>0.25</c:v>
                </c:pt>
                <c:pt idx="1">
                  <c:v>0.25</c:v>
                </c:pt>
                <c:pt idx="2">
                  <c:v>0.5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Sheet1!$B$5</c15:sqref>
                  <c15:spPr xmlns:c15="http://schemas.microsoft.com/office/drawing/2012/chart">
                    <a:solidFill>
                      <a:schemeClr val="accent4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15:spPr>
                  <c15:bubble3D val="0"/>
                  <c15:dLbl>
                    <c:idx val="2"/>
                    <c:layout>
                      <c:manualLayout>
                        <c:x val="-0.12795025542399896"/>
                        <c:y val="2.3291768835613177E-2"/>
                      </c:manualLayout>
                    </c:layout>
                    <c:showLegendKey val="0"/>
                    <c:showVal val="0"/>
                    <c:showCatName val="0"/>
                    <c:showSerName val="0"/>
                    <c:showPercent val="1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16-4B3F-477B-8CBE-A7FE2E6D5248}"/>
                      </c:ext>
                    </c:extLst>
                  </c15:dLbl>
                </c15:categoryFilterException>
                <c15:categoryFilterException>
                  <c15:sqref>Sheet1!$B$6</c15:sqref>
                  <c15:spPr xmlns:c15="http://schemas.microsoft.com/office/drawing/2012/chart">
                    <a:solidFill>
                      <a:schemeClr val="accent5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15:spPr>
                  <c15:bubble3D val="0"/>
                  <c15:dLbl>
                    <c:idx val="2"/>
                    <c:layout>
                      <c:manualLayout>
                        <c:x val="-6.7112149547647118E-2"/>
                        <c:y val="-4.1098406753327862E-2"/>
                      </c:manualLayout>
                    </c:layout>
                    <c:showLegendKey val="0"/>
                    <c:showVal val="0"/>
                    <c:showCatName val="0"/>
                    <c:showSerName val="0"/>
                    <c:showPercent val="1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18-4B3F-477B-8CBE-A7FE2E6D5248}"/>
                      </c:ext>
                    </c:extLst>
                  </c15:dLbl>
                </c15:categoryFilterException>
                <c15:categoryFilterException>
                  <c15:sqref>Sheet1!$B$7</c15:sqref>
                  <c15:spPr xmlns:c15="http://schemas.microsoft.com/office/drawing/2012/chart">
                    <a:solidFill>
                      <a:schemeClr val="accent6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15:spPr>
                  <c15:bubble3D val="0"/>
                  <c15:dLbl>
                    <c:idx val="2"/>
                    <c:layout>
                      <c:manualLayout>
                        <c:x val="-5.3600782677621174E-2"/>
                        <c:y val="-4.325614212328184E-2"/>
                      </c:manualLayout>
                    </c:layout>
                    <c:showLegendKey val="0"/>
                    <c:showVal val="0"/>
                    <c:showCatName val="0"/>
                    <c:showSerName val="0"/>
                    <c:showPercent val="1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1A-4B3F-477B-8CBE-A7FE2E6D5248}"/>
                      </c:ext>
                    </c:extLst>
                  </c15:dLbl>
                </c15:categoryFilterException>
                <c15:categoryFilterException>
                  <c15:sqref>Sheet1!$B$8</c15:sqref>
                  <c15:spPr xmlns:c15="http://schemas.microsoft.com/office/drawing/2012/chart">
                    <a:solidFill>
                      <a:schemeClr val="accent1">
                        <a:lumMod val="60000"/>
                      </a:schemeClr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15:spPr>
                  <c15:bubble3D val="0"/>
                  <c15:dLbl>
                    <c:idx val="2"/>
                    <c:layout>
                      <c:manualLayout>
                        <c:x val="-4.8721051688693603E-2"/>
                        <c:y val="-6.7273449739905219E-2"/>
                      </c:manualLayout>
                    </c:layout>
                    <c:showLegendKey val="0"/>
                    <c:showVal val="0"/>
                    <c:showCatName val="0"/>
                    <c:showSerName val="0"/>
                    <c:showPercent val="1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1C-4B3F-477B-8CBE-A7FE2E6D5248}"/>
                      </c:ext>
                    </c:extLst>
                  </c15:dLbl>
                </c15:categoryFilterException>
              </c15:categoryFilterExceptions>
            </c:ext>
            <c:ext xmlns:c16="http://schemas.microsoft.com/office/drawing/2014/chart" uri="{C3380CC4-5D6E-409C-BE32-E72D297353CC}">
              <c16:uniqueId val="{0000001D-4B3F-477B-8CBE-A7FE2E6D5248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4582425544880118"/>
          <c:y val="0.20615139493075016"/>
          <c:w val="0.31343224449907842"/>
          <c:h val="0.7027310057459142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8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tr-T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tr-T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472505657952016E-2"/>
          <c:y val="8.9320436164543431E-3"/>
          <c:w val="0.97005699343137952"/>
          <c:h val="0.900338632026654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Yıllık</c:v>
                </c:pt>
              </c:strCache>
            </c:strRef>
          </c:tx>
          <c:spPr>
            <a:ln w="31750">
              <a:solidFill>
                <a:schemeClr val="accent2"/>
              </a:solidFill>
              <a:headEnd w="med" len="med"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600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Sheet1!$A$2:$A$9</c:f>
              <c:strCache>
                <c:ptCount val="5"/>
                <c:pt idx="0">
                  <c:v>Personel G.</c:v>
                </c:pt>
                <c:pt idx="1">
                  <c:v>Dışardan Sağ. Hiz.</c:v>
                </c:pt>
                <c:pt idx="2">
                  <c:v>Danışmanlık G.</c:v>
                </c:pt>
                <c:pt idx="3">
                  <c:v>Çeşitli G.</c:v>
                </c:pt>
                <c:pt idx="4">
                  <c:v>Vergi/Resim/Harç</c:v>
                </c:pt>
              </c:strCache>
              <c:extLst/>
            </c:strRef>
          </c:cat>
          <c:val>
            <c:numRef>
              <c:f>Sheet1!$B$2:$B$9</c:f>
              <c:numCache>
                <c:formatCode>0%</c:formatCode>
                <c:ptCount val="5"/>
                <c:pt idx="0">
                  <c:v>0.23</c:v>
                </c:pt>
                <c:pt idx="1">
                  <c:v>0.18</c:v>
                </c:pt>
                <c:pt idx="2">
                  <c:v>7.0000000000000007E-2</c:v>
                </c:pt>
                <c:pt idx="3">
                  <c:v>0.46</c:v>
                </c:pt>
                <c:pt idx="4">
                  <c:v>0.06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8A26-4174-87FE-88CD3BE7C5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Aylık</c:v>
                </c:pt>
              </c:strCache>
            </c:strRef>
          </c:tx>
          <c:spPr>
            <a:ln w="31750">
              <a:solidFill>
                <a:schemeClr val="accent1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600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Sheet1!$A$2:$A$9</c:f>
              <c:strCache>
                <c:ptCount val="5"/>
                <c:pt idx="0">
                  <c:v>Personel G.</c:v>
                </c:pt>
                <c:pt idx="1">
                  <c:v>Dışardan Sağ. Hiz.</c:v>
                </c:pt>
                <c:pt idx="2">
                  <c:v>Danışmanlık G.</c:v>
                </c:pt>
                <c:pt idx="3">
                  <c:v>Çeşitli G.</c:v>
                </c:pt>
                <c:pt idx="4">
                  <c:v>Vergi/Resim/Harç</c:v>
                </c:pt>
              </c:strCache>
              <c:extLst/>
            </c:strRef>
          </c:cat>
          <c:val>
            <c:numRef>
              <c:f>Sheet1!$C$2:$C$9</c:f>
              <c:numCache>
                <c:formatCode>0%</c:formatCode>
                <c:ptCount val="5"/>
                <c:pt idx="0">
                  <c:v>0</c:v>
                </c:pt>
                <c:pt idx="1">
                  <c:v>0.1</c:v>
                </c:pt>
                <c:pt idx="2">
                  <c:v>0.32</c:v>
                </c:pt>
                <c:pt idx="3">
                  <c:v>0.54</c:v>
                </c:pt>
                <c:pt idx="4">
                  <c:v>0.04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8A26-4174-87FE-88CD3BE7C5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3576832"/>
        <c:axId val="53578368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Haftalık</c:v>
                </c:pt>
              </c:strCache>
            </c:strRef>
          </c:tx>
          <c:marker>
            <c:symbol val="none"/>
          </c:marker>
          <c:cat>
            <c:strRef>
              <c:f>Sheet1!$A$2:$A$9</c:f>
              <c:strCache>
                <c:ptCount val="5"/>
                <c:pt idx="0">
                  <c:v>Personel G.</c:v>
                </c:pt>
                <c:pt idx="1">
                  <c:v>Dışardan Sağ. Hiz.</c:v>
                </c:pt>
                <c:pt idx="2">
                  <c:v>Danışmanlık G.</c:v>
                </c:pt>
                <c:pt idx="3">
                  <c:v>Çeşitli G.</c:v>
                </c:pt>
                <c:pt idx="4">
                  <c:v>Vergi/Resim/Harç</c:v>
                </c:pt>
              </c:strCache>
              <c:extLst/>
            </c:strRef>
          </c:cat>
          <c:val>
            <c:numRef>
              <c:f>Sheet1!$D$2:$D$9</c:f>
              <c:numCache>
                <c:formatCode>0%</c:formatCode>
                <c:ptCount val="5"/>
                <c:pt idx="0">
                  <c:v>0</c:v>
                </c:pt>
                <c:pt idx="1">
                  <c:v>0.1</c:v>
                </c:pt>
                <c:pt idx="2">
                  <c:v>0.32</c:v>
                </c:pt>
                <c:pt idx="3">
                  <c:v>0.54</c:v>
                </c:pt>
                <c:pt idx="4">
                  <c:v>0.04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2-8A26-4174-87FE-88CD3BE7C5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4116232"/>
        <c:axId val="512005008"/>
      </c:lineChart>
      <c:catAx>
        <c:axId val="535768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pPr>
            <a:endParaRPr lang="tr-TR"/>
          </a:p>
        </c:txPr>
        <c:crossAx val="53578368"/>
        <c:crosses val="autoZero"/>
        <c:auto val="1"/>
        <c:lblAlgn val="ctr"/>
        <c:lblOffset val="100"/>
        <c:noMultiLvlLbl val="0"/>
      </c:catAx>
      <c:valAx>
        <c:axId val="53578368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53576832"/>
        <c:crosses val="autoZero"/>
        <c:crossBetween val="between"/>
      </c:valAx>
      <c:valAx>
        <c:axId val="512005008"/>
        <c:scaling>
          <c:orientation val="minMax"/>
        </c:scaling>
        <c:delete val="1"/>
        <c:axPos val="r"/>
        <c:numFmt formatCode="0%" sourceLinked="1"/>
        <c:majorTickMark val="out"/>
        <c:minorTickMark val="none"/>
        <c:tickLblPos val="nextTo"/>
        <c:crossAx val="464116232"/>
        <c:crosses val="max"/>
        <c:crossBetween val="between"/>
      </c:valAx>
      <c:catAx>
        <c:axId val="46411623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12005008"/>
        <c:crosses val="autoZero"/>
        <c:auto val="1"/>
        <c:lblAlgn val="ctr"/>
        <c:lblOffset val="100"/>
        <c:noMultiLvlLbl val="0"/>
      </c:cat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56447619585168307"/>
          <c:y val="8.7565494104446442E-3"/>
          <c:w val="0.42226894636512408"/>
          <c:h val="0.12266512165783042"/>
        </c:manualLayout>
      </c:layout>
      <c:overlay val="0"/>
      <c:txPr>
        <a:bodyPr/>
        <a:lstStyle/>
        <a:p>
          <a:pPr rtl="0">
            <a:defRPr sz="1400"/>
          </a:pPr>
          <a:endParaRPr lang="tr-T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tr-T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9311028317685415E-3"/>
          <c:y val="0.49929041349129638"/>
          <c:w val="0.9894527715557595"/>
          <c:h val="0.21507442076191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88900" cap="rnd">
              <a:solidFill>
                <a:srgbClr val="313131"/>
              </a:solidFill>
              <a:round/>
            </a:ln>
            <a:effectLst/>
          </c:spPr>
          <c:marker>
            <c:symbol val="circle"/>
            <c:size val="25"/>
            <c:spPr>
              <a:solidFill>
                <a:schemeClr val="accent1"/>
              </a:solidFill>
              <a:ln w="19050">
                <a:noFill/>
              </a:ln>
              <a:effectLst/>
            </c:spPr>
          </c:marker>
          <c:dPt>
            <c:idx val="0"/>
            <c:marker>
              <c:symbol val="circle"/>
              <c:size val="25"/>
              <c:spPr>
                <a:solidFill>
                  <a:schemeClr val="accent2"/>
                </a:solidFill>
                <a:ln w="19050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7D90-4397-98F2-61549FC4BFBE}"/>
              </c:ext>
            </c:extLst>
          </c:dPt>
          <c:dPt>
            <c:idx val="1"/>
            <c:marker>
              <c:symbol val="circle"/>
              <c:size val="25"/>
              <c:spPr>
                <a:solidFill>
                  <a:schemeClr val="accent3"/>
                </a:solidFill>
                <a:ln w="19050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7D90-4397-98F2-61549FC4BFBE}"/>
              </c:ext>
            </c:extLst>
          </c:dPt>
          <c:dPt>
            <c:idx val="2"/>
            <c:marker>
              <c:symbol val="circle"/>
              <c:size val="25"/>
              <c:spPr>
                <a:solidFill>
                  <a:schemeClr val="accent4"/>
                </a:solidFill>
                <a:ln w="19050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7D90-4397-98F2-61549FC4BFB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2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defRPr>
                </a:pPr>
                <a:endParaRPr lang="tr-T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1.Hafta</c:v>
                </c:pt>
                <c:pt idx="1">
                  <c:v>2.Hafta</c:v>
                </c:pt>
                <c:pt idx="2">
                  <c:v>2.Hafta</c:v>
                </c:pt>
              </c:strCache>
            </c:strRef>
          </c:cat>
          <c:val>
            <c:numRef>
              <c:f>Sheet1!$B$2:$B$4</c:f>
              <c:numCache>
                <c:formatCode>#,##0\ "₺";\-#,##0\ "₺"</c:formatCode>
                <c:ptCount val="3"/>
                <c:pt idx="0">
                  <c:v>55</c:v>
                </c:pt>
                <c:pt idx="1">
                  <c:v>66</c:v>
                </c:pt>
                <c:pt idx="2">
                  <c:v>77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7D90-4397-98F2-61549FC4BFBE}"/>
            </c:ext>
          </c:extLst>
        </c:ser>
        <c:dLbls>
          <c:dLblPos val="b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83113808"/>
        <c:axId val="783113416"/>
      </c:lineChart>
      <c:catAx>
        <c:axId val="78311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83113416"/>
        <c:crosses val="autoZero"/>
        <c:auto val="1"/>
        <c:lblAlgn val="ctr"/>
        <c:lblOffset val="100"/>
        <c:noMultiLvlLbl val="0"/>
      </c:catAx>
      <c:valAx>
        <c:axId val="783113416"/>
        <c:scaling>
          <c:orientation val="minMax"/>
        </c:scaling>
        <c:delete val="1"/>
        <c:axPos val="l"/>
        <c:majorGridlines>
          <c:spPr>
            <a:ln w="12700" cap="flat" cmpd="sng" algn="ctr">
              <a:solidFill>
                <a:schemeClr val="bg1">
                  <a:lumMod val="50000"/>
                  <a:alpha val="10000"/>
                </a:schemeClr>
              </a:solidFill>
              <a:round/>
            </a:ln>
            <a:effectLst/>
          </c:spPr>
        </c:majorGridlines>
        <c:numFmt formatCode="#,##0\ &quot;₺&quot;;\-#,##0\ &quot;₺&quot;" sourceLinked="1"/>
        <c:majorTickMark val="none"/>
        <c:minorTickMark val="none"/>
        <c:tickLblPos val="nextTo"/>
        <c:crossAx val="78311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 b="0" i="0">
          <a:latin typeface="Lato Light" panose="020F0502020204030203" pitchFamily="34" charset="0"/>
          <a:ea typeface="Lato Light" panose="020F0502020204030203" pitchFamily="34" charset="0"/>
          <a:cs typeface="Lato Light" panose="020F0502020204030203" pitchFamily="34" charset="0"/>
        </a:defRPr>
      </a:pPr>
      <a:endParaRPr lang="tr-T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246159595283592E-2"/>
          <c:y val="0.24688441151104643"/>
          <c:w val="0.96729379245698555"/>
          <c:h val="0.21507442076191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88900" cap="rnd">
              <a:solidFill>
                <a:srgbClr val="313131"/>
              </a:solidFill>
              <a:round/>
            </a:ln>
            <a:effectLst/>
          </c:spPr>
          <c:marker>
            <c:symbol val="circle"/>
            <c:size val="25"/>
            <c:spPr>
              <a:solidFill>
                <a:schemeClr val="accent1"/>
              </a:solidFill>
              <a:ln w="19050">
                <a:noFill/>
              </a:ln>
              <a:effectLst/>
            </c:spPr>
          </c:marker>
          <c:dPt>
            <c:idx val="0"/>
            <c:marker>
              <c:symbol val="circle"/>
              <c:size val="25"/>
              <c:spPr>
                <a:solidFill>
                  <a:schemeClr val="accent2"/>
                </a:solidFill>
                <a:ln w="19050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BAD9-4C06-BB0F-8D170FC36FC8}"/>
              </c:ext>
            </c:extLst>
          </c:dPt>
          <c:dPt>
            <c:idx val="1"/>
            <c:marker>
              <c:symbol val="circle"/>
              <c:size val="25"/>
              <c:spPr>
                <a:solidFill>
                  <a:schemeClr val="accent3"/>
                </a:solidFill>
                <a:ln w="19050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BAD9-4C06-BB0F-8D170FC36FC8}"/>
              </c:ext>
            </c:extLst>
          </c:dPt>
          <c:dPt>
            <c:idx val="2"/>
            <c:marker>
              <c:symbol val="circle"/>
              <c:size val="25"/>
              <c:spPr>
                <a:solidFill>
                  <a:schemeClr val="accent4"/>
                </a:solidFill>
                <a:ln w="19050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BAD9-4C06-BB0F-8D170FC36FC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2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defRPr>
                </a:pPr>
                <a:endParaRPr lang="tr-T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4.Hafta</c:v>
                </c:pt>
                <c:pt idx="1">
                  <c:v>1.Hafta</c:v>
                </c:pt>
                <c:pt idx="2">
                  <c:v>2.Hafta</c:v>
                </c:pt>
              </c:strCache>
            </c:strRef>
          </c:cat>
          <c:val>
            <c:numRef>
              <c:f>Sheet1!$B$2:$B$4</c:f>
              <c:numCache>
                <c:formatCode>[$$-409]#,##0_ ;\-[$$-409]#,##0\ 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BAD9-4C06-BB0F-8D170FC36FC8}"/>
            </c:ext>
          </c:extLst>
        </c:ser>
        <c:dLbls>
          <c:dLblPos val="b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83113808"/>
        <c:axId val="783113416"/>
      </c:lineChart>
      <c:catAx>
        <c:axId val="78311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83113416"/>
        <c:crosses val="autoZero"/>
        <c:auto val="1"/>
        <c:lblAlgn val="ctr"/>
        <c:lblOffset val="100"/>
        <c:noMultiLvlLbl val="0"/>
      </c:catAx>
      <c:valAx>
        <c:axId val="783113416"/>
        <c:scaling>
          <c:orientation val="minMax"/>
        </c:scaling>
        <c:delete val="1"/>
        <c:axPos val="l"/>
        <c:majorGridlines>
          <c:spPr>
            <a:ln w="12700" cap="flat" cmpd="sng" algn="ctr">
              <a:solidFill>
                <a:schemeClr val="bg1">
                  <a:lumMod val="50000"/>
                  <a:alpha val="10000"/>
                </a:schemeClr>
              </a:solidFill>
              <a:round/>
            </a:ln>
            <a:effectLst/>
          </c:spPr>
        </c:majorGridlines>
        <c:numFmt formatCode="[$$-409]#,##0_ ;\-[$$-409]#,##0\ " sourceLinked="1"/>
        <c:majorTickMark val="none"/>
        <c:minorTickMark val="none"/>
        <c:tickLblPos val="nextTo"/>
        <c:crossAx val="78311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 b="0" i="0">
          <a:latin typeface="Lato Light" panose="020F0502020204030203" pitchFamily="34" charset="0"/>
          <a:ea typeface="Lato Light" panose="020F0502020204030203" pitchFamily="34" charset="0"/>
          <a:cs typeface="Lato Light" panose="020F0502020204030203" pitchFamily="34" charset="0"/>
        </a:defRPr>
      </a:pPr>
      <a:endParaRPr lang="tr-T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7487598851650548E-2"/>
          <c:y val="0.27903455079434125"/>
          <c:w val="0.95186435820817772"/>
          <c:h val="0.21507442076191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88900" cap="rnd">
              <a:solidFill>
                <a:srgbClr val="313131"/>
              </a:solidFill>
              <a:round/>
            </a:ln>
            <a:effectLst/>
          </c:spPr>
          <c:marker>
            <c:symbol val="circle"/>
            <c:size val="25"/>
            <c:spPr>
              <a:solidFill>
                <a:schemeClr val="accent1"/>
              </a:solidFill>
              <a:ln w="19050">
                <a:noFill/>
              </a:ln>
              <a:effectLst/>
            </c:spPr>
          </c:marker>
          <c:dPt>
            <c:idx val="0"/>
            <c:marker>
              <c:symbol val="circle"/>
              <c:size val="25"/>
              <c:spPr>
                <a:solidFill>
                  <a:schemeClr val="accent2"/>
                </a:solidFill>
                <a:ln w="19050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B6D2-4594-B1D5-FC453316789E}"/>
              </c:ext>
            </c:extLst>
          </c:dPt>
          <c:dPt>
            <c:idx val="1"/>
            <c:marker>
              <c:symbol val="circle"/>
              <c:size val="25"/>
              <c:spPr>
                <a:solidFill>
                  <a:schemeClr val="accent3"/>
                </a:solidFill>
                <a:ln w="19050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B6D2-4594-B1D5-FC453316789E}"/>
              </c:ext>
            </c:extLst>
          </c:dPt>
          <c:dPt>
            <c:idx val="2"/>
            <c:marker>
              <c:symbol val="circle"/>
              <c:size val="25"/>
              <c:spPr>
                <a:solidFill>
                  <a:schemeClr val="accent4"/>
                </a:solidFill>
                <a:ln w="19050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B6D2-4594-B1D5-FC453316789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2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defRPr>
                </a:pPr>
                <a:endParaRPr lang="tr-T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4.Hafta</c:v>
                </c:pt>
                <c:pt idx="1">
                  <c:v>1.Hafta</c:v>
                </c:pt>
                <c:pt idx="2">
                  <c:v>2.Hafta</c:v>
                </c:pt>
              </c:strCache>
            </c:strRef>
          </c:cat>
          <c:val>
            <c:numRef>
              <c:f>Sheet1!$B$2:$B$4</c:f>
              <c:numCache>
                <c:formatCode>#,##0\ [$€-407];\-#,##0\ [$€-407]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B6D2-4594-B1D5-FC453316789E}"/>
            </c:ext>
          </c:extLst>
        </c:ser>
        <c:dLbls>
          <c:dLblPos val="b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83113808"/>
        <c:axId val="783113416"/>
      </c:lineChart>
      <c:catAx>
        <c:axId val="78311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83113416"/>
        <c:crosses val="autoZero"/>
        <c:auto val="1"/>
        <c:lblAlgn val="ctr"/>
        <c:lblOffset val="100"/>
        <c:noMultiLvlLbl val="0"/>
      </c:catAx>
      <c:valAx>
        <c:axId val="783113416"/>
        <c:scaling>
          <c:orientation val="minMax"/>
        </c:scaling>
        <c:delete val="1"/>
        <c:axPos val="l"/>
        <c:majorGridlines>
          <c:spPr>
            <a:ln w="12700" cap="flat" cmpd="sng" algn="ctr">
              <a:solidFill>
                <a:schemeClr val="bg1">
                  <a:lumMod val="50000"/>
                  <a:alpha val="10000"/>
                </a:schemeClr>
              </a:solidFill>
              <a:round/>
            </a:ln>
            <a:effectLst/>
          </c:spPr>
        </c:majorGridlines>
        <c:numFmt formatCode="#,##0\ [$€-407];\-#,##0\ [$€-407]" sourceLinked="1"/>
        <c:majorTickMark val="none"/>
        <c:minorTickMark val="none"/>
        <c:tickLblPos val="nextTo"/>
        <c:crossAx val="78311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 b="0" i="0">
          <a:latin typeface="Lato Light" panose="020F0502020204030203" pitchFamily="34" charset="0"/>
          <a:ea typeface="Lato Light" panose="020F0502020204030203" pitchFamily="34" charset="0"/>
          <a:cs typeface="Lato Light" panose="020F0502020204030203" pitchFamily="34" charset="0"/>
        </a:defRPr>
      </a:pPr>
      <a:endParaRPr lang="tr-T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3.5552537874798326E-3"/>
          <c:y val="0"/>
          <c:w val="0.99644473644886133"/>
          <c:h val="0.9967020005573008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Nakit Giriş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7.3931387348396466E-2"/>
                  <c:y val="2.3759473328468145E-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CBA-4E5B-8B91-26C387C5B946}"/>
                </c:ext>
              </c:extLst>
            </c:dLbl>
            <c:dLbl>
              <c:idx val="1"/>
              <c:layout>
                <c:manualLayout>
                  <c:x val="1.3166069048357964E-2"/>
                  <c:y val="9.942922265914097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CBA-4E5B-8B91-26C387C5B946}"/>
                </c:ext>
              </c:extLst>
            </c:dLbl>
            <c:dLbl>
              <c:idx val="2"/>
              <c:layout>
                <c:manualLayout>
                  <c:x val="-4.6364724295528577E-3"/>
                  <c:y val="4.853825443952570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CBA-4E5B-8B91-26C387C5B94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Lato Light" panose="020F0502020204030203" pitchFamily="34" charset="0"/>
                    <a:cs typeface="Lato Light" panose="020F0502020204030203" pitchFamily="34" charset="0"/>
                  </a:defRPr>
                </a:pPr>
                <a:endParaRPr lang="tr-T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Haziran</c:v>
                </c:pt>
                <c:pt idx="1">
                  <c:v>Temmuz</c:v>
                </c:pt>
                <c:pt idx="2">
                  <c:v>Ağustos</c:v>
                </c:pt>
              </c:strCache>
            </c:strRef>
          </c:cat>
          <c:val>
            <c:numRef>
              <c:f>Sheet1!$B$2:$B$4</c:f>
              <c:numCache>
                <c:formatCode>"₺"#,##0</c:formatCode>
                <c:ptCount val="3"/>
                <c:pt idx="0">
                  <c:v>55</c:v>
                </c:pt>
                <c:pt idx="1">
                  <c:v>66</c:v>
                </c:pt>
                <c:pt idx="2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CBA-4E5B-8B91-26C387C5B9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Nakit Çıkış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CBA-4E5B-8B91-26C387C5B946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CBA-4E5B-8B91-26C387C5B94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CBA-4E5B-8B91-26C387C5B946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5CBA-4E5B-8B91-26C387C5B946}"/>
              </c:ext>
            </c:extLst>
          </c:dPt>
          <c:dLbls>
            <c:dLbl>
              <c:idx val="0"/>
              <c:layout>
                <c:manualLayout>
                  <c:x val="0.10086604602337081"/>
                  <c:y val="1.739994347464932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CBA-4E5B-8B91-26C387C5B946}"/>
                </c:ext>
              </c:extLst>
            </c:dLbl>
            <c:dLbl>
              <c:idx val="1"/>
              <c:layout>
                <c:manualLayout>
                  <c:x val="0.10671335303921839"/>
                  <c:y val="7.457118631992565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CBA-4E5B-8B91-26C387C5B946}"/>
                </c:ext>
              </c:extLst>
            </c:dLbl>
            <c:dLbl>
              <c:idx val="2"/>
              <c:layout>
                <c:manualLayout>
                  <c:x val="5.2625763142628144E-2"/>
                  <c:y val="1.491423726398504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CBA-4E5B-8B91-26C387C5B94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Lato Light" panose="020F0502020204030203" pitchFamily="34" charset="0"/>
                    <a:cs typeface="Lato Light" panose="020F0502020204030203" pitchFamily="34" charset="0"/>
                  </a:defRPr>
                </a:pPr>
                <a:endParaRPr lang="tr-T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Haziran</c:v>
                </c:pt>
                <c:pt idx="1">
                  <c:v>Temmuz</c:v>
                </c:pt>
                <c:pt idx="2">
                  <c:v>Ağustos</c:v>
                </c:pt>
              </c:strCache>
            </c:strRef>
          </c:cat>
          <c:val>
            <c:numRef>
              <c:f>Sheet1!$C$2:$C$4</c:f>
              <c:numCache>
                <c:formatCode>"₺"#,##0</c:formatCode>
                <c:ptCount val="3"/>
                <c:pt idx="0">
                  <c:v>66</c:v>
                </c:pt>
                <c:pt idx="1">
                  <c:v>77</c:v>
                </c:pt>
                <c:pt idx="2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CBA-4E5B-8B91-26C387C5B9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Fark</c:v>
                </c:pt>
              </c:strCache>
            </c:strRef>
          </c:tx>
          <c:spPr>
            <a:solidFill>
              <a:srgbClr val="FFCC6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rgbClr val="000000"/>
                    </a:solidFill>
                    <a:latin typeface="+mn-lt"/>
                    <a:ea typeface="Lato Light" panose="020F0502020204030203" pitchFamily="34" charset="0"/>
                    <a:cs typeface="Lato Light" panose="020F0502020204030203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Haziran</c:v>
                </c:pt>
                <c:pt idx="1">
                  <c:v>Temmuz</c:v>
                </c:pt>
                <c:pt idx="2">
                  <c:v>Ağustos</c:v>
                </c:pt>
              </c:strCache>
            </c:strRef>
          </c:cat>
          <c:val>
            <c:numRef>
              <c:f>Sheet1!$D$2:$D$4</c:f>
              <c:numCache>
                <c:formatCode>#,##0\ "₺"</c:formatCode>
                <c:ptCount val="3"/>
                <c:pt idx="0">
                  <c:v>-11</c:v>
                </c:pt>
                <c:pt idx="1">
                  <c:v>-11</c:v>
                </c:pt>
                <c:pt idx="2">
                  <c:v>-11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5CBA-4E5B-8B91-26C387C5B9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4"/>
        <c:axId val="536234239"/>
        <c:axId val="531651903"/>
      </c:barChart>
      <c:catAx>
        <c:axId val="536234239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31651903"/>
        <c:crosses val="autoZero"/>
        <c:auto val="1"/>
        <c:lblAlgn val="ctr"/>
        <c:lblOffset val="100"/>
        <c:noMultiLvlLbl val="0"/>
      </c:catAx>
      <c:valAx>
        <c:axId val="531651903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₺&quot;#,##0" sourceLinked="1"/>
        <c:majorTickMark val="none"/>
        <c:minorTickMark val="none"/>
        <c:tickLblPos val="nextTo"/>
        <c:crossAx val="5362342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207756593697932"/>
          <c:y val="2.0718190097082763E-2"/>
          <c:w val="0.47762511946837571"/>
          <c:h val="6.016198044009780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rgbClr val="000000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defRPr>
          </a:pPr>
          <a:endParaRPr lang="tr-T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 b="0" i="0">
          <a:latin typeface="Lato Light" panose="020F0502020204030203" pitchFamily="34" charset="0"/>
          <a:ea typeface="Lato Light" panose="020F0502020204030203" pitchFamily="34" charset="0"/>
          <a:cs typeface="Lato Light" panose="020F0502020204030203" pitchFamily="34" charset="0"/>
        </a:defRPr>
      </a:pPr>
      <a:endParaRPr lang="tr-T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ontserrat Light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ontserrat Light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ontserrat Light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ontserrat Light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1pPr>
    <a:lvl2pPr marL="914217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2pPr>
    <a:lvl3pPr marL="1828434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3pPr>
    <a:lvl4pPr marL="2742651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4pPr>
    <a:lvl5pPr marL="3656868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6BE02D-20C0-F840-AFAC-BEA99C74FDC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 Light" charset="0"/>
                <a:ea typeface="+mn-ea"/>
                <a:cs typeface="+mn-cs"/>
              </a:rPr>
              <a:pPr marL="0" marR="0" lvl="0" indent="0" algn="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 Light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1322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61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730251"/>
            <a:ext cx="21025723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5964" y="12712701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5097" y="12712701"/>
            <a:ext cx="822745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16715" y="12712701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059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</p:sldLayoutIdLst>
  <p:hf hdr="0" ftr="0" dt="0"/>
  <p:txStyles>
    <p:titleStyle>
      <a:lvl1pPr algn="l" defTabSz="1828343" rtl="0" eaLnBrk="1" latinLnBrk="0" hangingPunct="1">
        <a:lnSpc>
          <a:spcPct val="90000"/>
        </a:lnSpc>
        <a:spcBef>
          <a:spcPct val="0"/>
        </a:spcBef>
        <a:buNone/>
        <a:defRPr sz="87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828343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None/>
        <a:defRPr sz="5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47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9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5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5027943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942114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856286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770457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6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4570857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485028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39920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3133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chart" Target="../charts/chart1.xml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10" Type="http://schemas.openxmlformats.org/officeDocument/2006/relationships/chart" Target="../charts/chart6.xml"/><Relationship Id="rId4" Type="http://schemas.openxmlformats.org/officeDocument/2006/relationships/chart" Target="../charts/chart2.xml"/><Relationship Id="rId9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79">
            <a:extLst>
              <a:ext uri="{FF2B5EF4-FFF2-40B4-BE49-F238E27FC236}">
                <a16:creationId xmlns:a16="http://schemas.microsoft.com/office/drawing/2014/main" id="{F1121F66-1B15-9267-6C81-392B0240CE8E}"/>
              </a:ext>
            </a:extLst>
          </p:cNvPr>
          <p:cNvSpPr/>
          <p:nvPr/>
        </p:nvSpPr>
        <p:spPr>
          <a:xfrm>
            <a:off x="567583" y="1557018"/>
            <a:ext cx="6867884" cy="4152682"/>
          </a:xfrm>
          <a:prstGeom prst="rect">
            <a:avLst/>
          </a:prstGeom>
          <a:solidFill>
            <a:schemeClr val="bg1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0" name="Table 19">
            <a:extLst>
              <a:ext uri="{FF2B5EF4-FFF2-40B4-BE49-F238E27FC236}">
                <a16:creationId xmlns:a16="http://schemas.microsoft.com/office/drawing/2014/main" id="{47FDE6D6-318B-A309-BFE5-3E581F10A4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179349"/>
              </p:ext>
            </p:extLst>
          </p:nvPr>
        </p:nvGraphicFramePr>
        <p:xfrm>
          <a:off x="16037134" y="5798433"/>
          <a:ext cx="7897734" cy="67741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51">
                  <a:extLst>
                    <a:ext uri="{9D8B030D-6E8A-4147-A177-3AD203B41FA5}">
                      <a16:colId xmlns:a16="http://schemas.microsoft.com/office/drawing/2014/main" val="297148170"/>
                    </a:ext>
                  </a:extLst>
                </a:gridCol>
                <a:gridCol w="1565662">
                  <a:extLst>
                    <a:ext uri="{9D8B030D-6E8A-4147-A177-3AD203B41FA5}">
                      <a16:colId xmlns:a16="http://schemas.microsoft.com/office/drawing/2014/main" val="1064767228"/>
                    </a:ext>
                  </a:extLst>
                </a:gridCol>
                <a:gridCol w="1372904">
                  <a:extLst>
                    <a:ext uri="{9D8B030D-6E8A-4147-A177-3AD203B41FA5}">
                      <a16:colId xmlns:a16="http://schemas.microsoft.com/office/drawing/2014/main" val="1476708384"/>
                    </a:ext>
                  </a:extLst>
                </a:gridCol>
                <a:gridCol w="1382917">
                  <a:extLst>
                    <a:ext uri="{9D8B030D-6E8A-4147-A177-3AD203B41FA5}">
                      <a16:colId xmlns:a16="http://schemas.microsoft.com/office/drawing/2014/main" val="2813007491"/>
                    </a:ext>
                  </a:extLst>
                </a:gridCol>
              </a:tblGrid>
              <a:tr h="998171">
                <a:tc>
                  <a:txBody>
                    <a:bodyPr/>
                    <a:lstStyle/>
                    <a:p>
                      <a:pPr algn="l" fontAlgn="b"/>
                      <a:r>
                        <a:rPr lang="tr-TR" sz="2400" b="1" i="0" dirty="0" err="1">
                          <a:solidFill>
                            <a:srgbClr val="000000"/>
                          </a:solidFill>
                          <a:latin typeface="+mn-lt"/>
                          <a:ea typeface="Roboto Medium" panose="02000000000000000000" pitchFamily="2" charset="0"/>
                        </a:rPr>
                        <a:t>Xx</a:t>
                      </a:r>
                      <a:r>
                        <a:rPr lang="tr-TR" sz="2400" b="1" i="0" dirty="0">
                          <a:solidFill>
                            <a:srgbClr val="000000"/>
                          </a:solidFill>
                          <a:latin typeface="+mn-lt"/>
                          <a:ea typeface="Roboto Medium" panose="02000000000000000000" pitchFamily="2" charset="0"/>
                        </a:rPr>
                        <a:t> xx</a:t>
                      </a:r>
                      <a:endParaRPr lang="tr-TR" sz="2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457081" marR="91416" marT="45708" marB="45708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1" i="0" dirty="0">
                          <a:solidFill>
                            <a:srgbClr val="000000"/>
                          </a:solidFill>
                          <a:latin typeface="Calibri 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Haftalık</a:t>
                      </a:r>
                      <a:endParaRPr lang="en-US" sz="2400" b="1" i="0" dirty="0">
                        <a:solidFill>
                          <a:srgbClr val="000000"/>
                        </a:solidFill>
                        <a:latin typeface="Calibri 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1" i="0" dirty="0">
                          <a:solidFill>
                            <a:srgbClr val="000000"/>
                          </a:solidFill>
                          <a:latin typeface="Calibri 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Aylık</a:t>
                      </a:r>
                      <a:endParaRPr lang="en-US" sz="2400" b="1" i="0" dirty="0">
                        <a:solidFill>
                          <a:srgbClr val="000000"/>
                        </a:solidFill>
                        <a:latin typeface="Calibri 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1" i="0" dirty="0">
                          <a:solidFill>
                            <a:srgbClr val="000000"/>
                          </a:solidFill>
                          <a:latin typeface="Calibri 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Yıllık</a:t>
                      </a:r>
                      <a:endParaRPr lang="en-US" sz="2400" b="1" i="0" dirty="0">
                        <a:solidFill>
                          <a:srgbClr val="000000"/>
                        </a:solidFill>
                        <a:latin typeface="Calibri 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588595"/>
                  </a:ext>
                </a:extLst>
              </a:tr>
              <a:tr h="598999">
                <a:tc>
                  <a:txBody>
                    <a:bodyPr/>
                    <a:lstStyle/>
                    <a:p>
                      <a:pPr algn="l" fontAlgn="b"/>
                      <a:r>
                        <a:rPr lang="tr-TR" sz="1400" b="0" u="none" strike="noStrike" dirty="0">
                          <a:solidFill>
                            <a:schemeClr val="tx2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Personel G.</a:t>
                      </a:r>
                      <a:endParaRPr lang="tr-TR" sz="1400" b="0" i="0" u="none" strike="noStrike" dirty="0">
                        <a:solidFill>
                          <a:schemeClr val="tx2"/>
                        </a:solidFill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457081" marR="91416" marT="45708" marB="45708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lang="tr-TR" sz="1400" b="0" u="none" strike="noStrike" kern="1200" dirty="0">
                          <a:solidFill>
                            <a:schemeClr val="tx2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lang="tr-TR" sz="1400" b="0" u="none" strike="noStrike" kern="1200" dirty="0">
                          <a:solidFill>
                            <a:schemeClr val="tx2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lang="tr-TR" sz="1400" b="0" u="none" strike="noStrike" kern="1200" dirty="0">
                          <a:solidFill>
                            <a:schemeClr val="tx2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672463"/>
                  </a:ext>
                </a:extLst>
              </a:tr>
              <a:tr h="515420">
                <a:tc>
                  <a:txBody>
                    <a:bodyPr/>
                    <a:lstStyle/>
                    <a:p>
                      <a:pPr marL="0" algn="l" defTabSz="1828343" rtl="0" eaLnBrk="1" fontAlgn="b" latinLnBrk="0" hangingPunct="1"/>
                      <a:r>
                        <a:rPr lang="tr-TR" sz="1400" b="0" u="none" strike="noStrike" kern="1200" dirty="0">
                          <a:solidFill>
                            <a:schemeClr val="tx2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Dışarıdan Sağ. </a:t>
                      </a:r>
                      <a:r>
                        <a:rPr lang="tr-TR" sz="1400" b="0" u="none" strike="noStrike" kern="1200" dirty="0" err="1">
                          <a:solidFill>
                            <a:schemeClr val="tx2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Hiz</a:t>
                      </a:r>
                      <a:r>
                        <a:rPr lang="tr-TR" sz="1400" b="0" u="none" strike="noStrike" kern="1200" dirty="0">
                          <a:solidFill>
                            <a:schemeClr val="tx2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.</a:t>
                      </a:r>
                    </a:p>
                  </a:txBody>
                  <a:tcPr marL="457081" marR="91416" marT="45708" marB="45708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lang="tr-TR" sz="1400" b="0" u="none" strike="noStrike" kern="1200" dirty="0">
                          <a:solidFill>
                            <a:schemeClr val="tx2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₺--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lang="tr-TR" sz="1400" b="0" u="none" strike="noStrike" kern="1200" dirty="0">
                          <a:solidFill>
                            <a:schemeClr val="tx2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₺--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lang="tr-TR" sz="1400" b="0" u="none" strike="noStrike" kern="1200" dirty="0">
                          <a:solidFill>
                            <a:schemeClr val="tx2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₺--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303603"/>
                  </a:ext>
                </a:extLst>
              </a:tr>
              <a:tr h="546342">
                <a:tc>
                  <a:txBody>
                    <a:bodyPr/>
                    <a:lstStyle/>
                    <a:p>
                      <a:pPr marL="0" algn="l" defTabSz="1828343" rtl="0" eaLnBrk="1" fontAlgn="b" latinLnBrk="0" hangingPunct="1"/>
                      <a:r>
                        <a:rPr lang="tr-TR" sz="1400" b="0" u="none" strike="noStrike" kern="1200" dirty="0">
                          <a:solidFill>
                            <a:schemeClr val="tx2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Danışmanlık G.</a:t>
                      </a:r>
                    </a:p>
                  </a:txBody>
                  <a:tcPr marL="457081" marR="91416" marT="45708" marB="45708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kumimoji="0" lang="tr-T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₺--</a:t>
                      </a:r>
                      <a:endParaRPr lang="tr-TR" sz="1400" b="0" u="none" strike="noStrike" kern="1200" dirty="0">
                        <a:solidFill>
                          <a:schemeClr val="tx2"/>
                        </a:solidFill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kumimoji="0" lang="tr-T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₺--</a:t>
                      </a:r>
                      <a:endParaRPr lang="tr-TR" sz="1400" b="0" u="none" strike="noStrike" kern="1200" dirty="0">
                        <a:solidFill>
                          <a:schemeClr val="tx2"/>
                        </a:solidFill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kumimoji="0" lang="tr-T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₺--</a:t>
                      </a:r>
                      <a:endParaRPr lang="tr-TR" sz="1400" b="0" u="none" strike="noStrike" kern="1200" dirty="0">
                        <a:solidFill>
                          <a:schemeClr val="tx2"/>
                        </a:solidFill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257650"/>
                  </a:ext>
                </a:extLst>
              </a:tr>
              <a:tr h="525024">
                <a:tc>
                  <a:txBody>
                    <a:bodyPr/>
                    <a:lstStyle/>
                    <a:p>
                      <a:pPr marL="0" algn="l" defTabSz="1828343" rtl="0" eaLnBrk="1" fontAlgn="b" latinLnBrk="0" hangingPunct="1"/>
                      <a:r>
                        <a:rPr lang="tr-TR" sz="1400" b="0" u="none" strike="noStrike" kern="1200" dirty="0">
                          <a:solidFill>
                            <a:schemeClr val="tx2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Çeşitli G.</a:t>
                      </a:r>
                    </a:p>
                  </a:txBody>
                  <a:tcPr marL="457081" marR="91416" marT="45708" marB="45708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kumimoji="0" lang="tr-T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₺--</a:t>
                      </a:r>
                      <a:endParaRPr lang="tr-TR" sz="1400" b="0" u="none" strike="noStrike" kern="1200" dirty="0">
                        <a:solidFill>
                          <a:schemeClr val="tx2"/>
                        </a:solidFill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kumimoji="0" lang="tr-T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₺--</a:t>
                      </a:r>
                      <a:endParaRPr lang="tr-TR" sz="1400" b="0" u="none" strike="noStrike" kern="1200" dirty="0">
                        <a:solidFill>
                          <a:schemeClr val="tx2"/>
                        </a:solidFill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kumimoji="0" lang="tr-T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₺--</a:t>
                      </a:r>
                      <a:endParaRPr lang="tr-TR" sz="1400" b="0" u="none" strike="noStrike" kern="1200" dirty="0">
                        <a:solidFill>
                          <a:schemeClr val="tx2"/>
                        </a:solidFill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811106"/>
                  </a:ext>
                </a:extLst>
              </a:tr>
              <a:tr h="693035">
                <a:tc>
                  <a:txBody>
                    <a:bodyPr/>
                    <a:lstStyle/>
                    <a:p>
                      <a:pPr marL="0" algn="l" defTabSz="1828343" rtl="0" eaLnBrk="1" fontAlgn="b" latinLnBrk="0" hangingPunct="1"/>
                      <a:r>
                        <a:rPr lang="tr-TR" sz="1400" b="0" u="none" strike="noStrike" kern="1200" dirty="0">
                          <a:solidFill>
                            <a:schemeClr val="tx2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Vergi/Resim/Harçlar</a:t>
                      </a:r>
                    </a:p>
                  </a:txBody>
                  <a:tcPr marL="457081" marR="91416" marT="45708" marB="45708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kumimoji="0" lang="tr-T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₺--</a:t>
                      </a:r>
                      <a:endParaRPr lang="tr-TR" sz="1400" b="0" u="none" strike="noStrike" kern="1200" dirty="0">
                        <a:solidFill>
                          <a:schemeClr val="tx2"/>
                        </a:solidFill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kumimoji="0" lang="tr-T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₺--</a:t>
                      </a:r>
                      <a:endParaRPr lang="tr-TR" sz="1400" b="0" u="none" strike="noStrike" kern="1200" dirty="0">
                        <a:solidFill>
                          <a:schemeClr val="tx2"/>
                        </a:solidFill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kumimoji="0" lang="tr-T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₺--</a:t>
                      </a:r>
                      <a:endParaRPr lang="tr-TR" sz="1400" b="0" u="none" strike="noStrike" kern="1200" dirty="0">
                        <a:solidFill>
                          <a:schemeClr val="tx2"/>
                        </a:solidFill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268816"/>
                  </a:ext>
                </a:extLst>
              </a:tr>
              <a:tr h="693035">
                <a:tc>
                  <a:txBody>
                    <a:bodyPr/>
                    <a:lstStyle/>
                    <a:p>
                      <a:pPr marL="0" algn="l" defTabSz="1828343" rtl="0" eaLnBrk="1" fontAlgn="b" latinLnBrk="0" hangingPunct="1"/>
                      <a:r>
                        <a:rPr lang="tr-TR" sz="1400" b="0" u="none" strike="noStrike" kern="1200" dirty="0">
                          <a:solidFill>
                            <a:schemeClr val="tx2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Proje Faaliyetleri Kapsamında G.</a:t>
                      </a:r>
                    </a:p>
                  </a:txBody>
                  <a:tcPr marL="457081" marR="91416" marT="45708" marB="45708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kumimoji="0" lang="tr-T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₺--</a:t>
                      </a:r>
                      <a:endParaRPr lang="tr-TR" sz="1400" b="0" u="none" strike="noStrike" kern="1200" dirty="0">
                        <a:solidFill>
                          <a:schemeClr val="tx2"/>
                        </a:solidFill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kumimoji="0" lang="tr-T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₺--</a:t>
                      </a:r>
                      <a:endParaRPr lang="tr-TR" sz="1400" b="0" u="none" strike="noStrike" kern="1200" dirty="0">
                        <a:solidFill>
                          <a:schemeClr val="tx2"/>
                        </a:solidFill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kumimoji="0" lang="tr-T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₺--</a:t>
                      </a:r>
                      <a:endParaRPr lang="tr-TR" sz="1400" b="0" u="none" strike="noStrike" kern="1200" dirty="0">
                        <a:solidFill>
                          <a:schemeClr val="tx2"/>
                        </a:solidFill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870458"/>
                  </a:ext>
                </a:extLst>
              </a:tr>
              <a:tr h="515420">
                <a:tc>
                  <a:txBody>
                    <a:bodyPr/>
                    <a:lstStyle/>
                    <a:p>
                      <a:pPr marL="0" algn="l" defTabSz="1828343" rtl="0" eaLnBrk="1" fontAlgn="b" latinLnBrk="0" hangingPunct="1"/>
                      <a:r>
                        <a:rPr lang="tr-TR" sz="1400" b="0" u="none" strike="noStrike" kern="1200" dirty="0">
                          <a:solidFill>
                            <a:schemeClr val="tx2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Yatırımlara Ait G.</a:t>
                      </a:r>
                    </a:p>
                  </a:txBody>
                  <a:tcPr marL="457081" marR="91416" marT="45708" marB="45708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kumimoji="0" lang="tr-T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₺--</a:t>
                      </a:r>
                      <a:endParaRPr lang="tr-TR" sz="1400" b="0" u="none" strike="noStrike" kern="1200" dirty="0">
                        <a:solidFill>
                          <a:schemeClr val="tx2"/>
                        </a:solidFill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kumimoji="0" lang="tr-T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₺--</a:t>
                      </a:r>
                      <a:endParaRPr lang="tr-TR" sz="1400" b="0" u="none" strike="noStrike" kern="1200" dirty="0">
                        <a:solidFill>
                          <a:schemeClr val="tx2"/>
                        </a:solidFill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kumimoji="0" lang="tr-T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₺--</a:t>
                      </a:r>
                      <a:endParaRPr lang="tr-TR" sz="1400" b="0" u="none" strike="noStrike" kern="1200" dirty="0">
                        <a:solidFill>
                          <a:schemeClr val="tx2"/>
                        </a:solidFill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853255"/>
                  </a:ext>
                </a:extLst>
              </a:tr>
              <a:tr h="515420">
                <a:tc>
                  <a:txBody>
                    <a:bodyPr/>
                    <a:lstStyle/>
                    <a:p>
                      <a:pPr marL="0" algn="l" defTabSz="1828343" rtl="0" eaLnBrk="1" fontAlgn="b" latinLnBrk="0" hangingPunct="1"/>
                      <a:r>
                        <a:rPr lang="tr-TR" sz="1400" b="0" u="none" strike="noStrike" kern="1200" dirty="0">
                          <a:solidFill>
                            <a:schemeClr val="tx2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Finansmana Ait G.</a:t>
                      </a:r>
                    </a:p>
                  </a:txBody>
                  <a:tcPr marL="457081" marR="91416" marT="45708" marB="45708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kumimoji="0" lang="tr-T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₺--</a:t>
                      </a:r>
                      <a:endParaRPr lang="tr-TR" sz="1400" b="0" u="none" strike="noStrike" kern="1200" dirty="0">
                        <a:solidFill>
                          <a:schemeClr val="tx2"/>
                        </a:solidFill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kumimoji="0" lang="tr-T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₺--</a:t>
                      </a:r>
                      <a:endParaRPr lang="tr-TR" sz="1400" b="0" u="none" strike="noStrike" kern="1200" dirty="0">
                        <a:solidFill>
                          <a:schemeClr val="tx2"/>
                        </a:solidFill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kumimoji="0" lang="tr-T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₺--</a:t>
                      </a:r>
                      <a:endParaRPr lang="tr-TR" sz="1400" b="0" u="none" strike="noStrike" kern="1200" dirty="0">
                        <a:solidFill>
                          <a:schemeClr val="tx2"/>
                        </a:solidFill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554835"/>
                  </a:ext>
                </a:extLst>
              </a:tr>
              <a:tr h="657901">
                <a:tc>
                  <a:txBody>
                    <a:bodyPr/>
                    <a:lstStyle/>
                    <a:p>
                      <a:pPr marL="0" algn="l" defTabSz="1828343" rtl="0" eaLnBrk="1" fontAlgn="b" latinLnBrk="0" hangingPunct="1"/>
                      <a:r>
                        <a:rPr lang="tr-TR" sz="1400" b="1" u="none" strike="noStrike" kern="1200" dirty="0">
                          <a:solidFill>
                            <a:schemeClr val="tx2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Toplam Gider</a:t>
                      </a:r>
                    </a:p>
                  </a:txBody>
                  <a:tcPr marL="457081" marR="91416" marT="45708" marB="45708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lang="tr-TR" sz="1400" b="1" u="none" strike="noStrike" kern="1200" dirty="0">
                          <a:solidFill>
                            <a:schemeClr val="tx2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lang="tr-TR" sz="1400" b="1" u="none" strike="noStrike" kern="1200" dirty="0">
                          <a:solidFill>
                            <a:schemeClr val="tx2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lang="tr-TR" sz="1400" b="1" u="none" strike="noStrike" kern="1200" dirty="0">
                          <a:solidFill>
                            <a:schemeClr val="tx2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895089"/>
                  </a:ext>
                </a:extLst>
              </a:tr>
              <a:tr h="515420">
                <a:tc>
                  <a:txBody>
                    <a:bodyPr/>
                    <a:lstStyle/>
                    <a:p>
                      <a:pPr marL="0" algn="l" defTabSz="1828343" rtl="0" eaLnBrk="1" fontAlgn="b" latinLnBrk="0" hangingPunct="1"/>
                      <a:r>
                        <a:rPr lang="tr-TR" sz="1400" b="1" u="none" strike="noStrike" kern="1200" dirty="0">
                          <a:solidFill>
                            <a:schemeClr val="tx2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Toplam Gelir</a:t>
                      </a:r>
                    </a:p>
                  </a:txBody>
                  <a:tcPr marL="457081" marR="91416" marT="45708" marB="45708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lang="tr-TR" sz="1400" b="1" u="none" strike="noStrike" kern="1200" dirty="0">
                          <a:solidFill>
                            <a:schemeClr val="tx2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lang="tr-TR" sz="1400" b="1" u="none" strike="noStrike" kern="1200" dirty="0">
                          <a:solidFill>
                            <a:schemeClr val="tx2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343" rtl="0" eaLnBrk="1" fontAlgn="b" latinLnBrk="0" hangingPunct="1">
                        <a:buNone/>
                      </a:pPr>
                      <a:r>
                        <a:rPr lang="tr-TR" sz="1400" b="1" u="none" strike="noStrike" kern="1200" dirty="0">
                          <a:solidFill>
                            <a:schemeClr val="tx2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688611"/>
                  </a:ext>
                </a:extLst>
              </a:tr>
            </a:tbl>
          </a:graphicData>
        </a:graphic>
      </p:graphicFrame>
      <p:graphicFrame>
        <p:nvGraphicFramePr>
          <p:cNvPr id="8" name="Chart 19">
            <a:extLst>
              <a:ext uri="{FF2B5EF4-FFF2-40B4-BE49-F238E27FC236}">
                <a16:creationId xmlns:a16="http://schemas.microsoft.com/office/drawing/2014/main" id="{63A76A41-B37F-2409-64F6-0334700431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0708007"/>
              </p:ext>
            </p:extLst>
          </p:nvPr>
        </p:nvGraphicFramePr>
        <p:xfrm>
          <a:off x="650692" y="1499134"/>
          <a:ext cx="6882569" cy="4137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le 19">
            <a:extLst>
              <a:ext uri="{FF2B5EF4-FFF2-40B4-BE49-F238E27FC236}">
                <a16:creationId xmlns:a16="http://schemas.microsoft.com/office/drawing/2014/main" id="{51DAE6BE-2956-D360-3FED-EB00B4FC23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412612"/>
              </p:ext>
            </p:extLst>
          </p:nvPr>
        </p:nvGraphicFramePr>
        <p:xfrm>
          <a:off x="591934" y="5841782"/>
          <a:ext cx="6843534" cy="6726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9890">
                  <a:extLst>
                    <a:ext uri="{9D8B030D-6E8A-4147-A177-3AD203B41FA5}">
                      <a16:colId xmlns:a16="http://schemas.microsoft.com/office/drawing/2014/main" val="297148170"/>
                    </a:ext>
                  </a:extLst>
                </a:gridCol>
                <a:gridCol w="3723644">
                  <a:extLst>
                    <a:ext uri="{9D8B030D-6E8A-4147-A177-3AD203B41FA5}">
                      <a16:colId xmlns:a16="http://schemas.microsoft.com/office/drawing/2014/main" val="1064767228"/>
                    </a:ext>
                  </a:extLst>
                </a:gridCol>
              </a:tblGrid>
              <a:tr h="322305">
                <a:tc>
                  <a:txBody>
                    <a:bodyPr/>
                    <a:lstStyle/>
                    <a:p>
                      <a:pPr algn="l" fontAlgn="b"/>
                      <a:r>
                        <a:rPr lang="tr-TR" sz="1400" b="0" u="none" strike="noStrike" dirty="0">
                          <a:solidFill>
                            <a:srgbClr val="000000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Kuruluş Tarihi</a:t>
                      </a:r>
                      <a:endParaRPr lang="tr-TR" sz="1400" b="0" i="0" u="none" strike="noStrike" dirty="0">
                        <a:solidFill>
                          <a:srgbClr val="000000"/>
                        </a:solidFill>
                        <a:effectLst/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457081" marR="91416" marT="45708" marB="45708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828343" rtl="0" eaLnBrk="1" fontAlgn="b" latinLnBrk="0" hangingPunct="1"/>
                      <a:r>
                        <a:rPr lang="tr-TR" sz="1400" b="0" i="0" kern="1200" dirty="0" err="1">
                          <a:solidFill>
                            <a:srgbClr val="000000"/>
                          </a:solidFill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xxxx</a:t>
                      </a:r>
                      <a:endParaRPr lang="tr-TR" sz="1400" b="0" i="0" kern="1200" dirty="0">
                        <a:solidFill>
                          <a:srgbClr val="000000"/>
                        </a:solidFill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672463"/>
                  </a:ext>
                </a:extLst>
              </a:tr>
              <a:tr h="2004559">
                <a:tc>
                  <a:txBody>
                    <a:bodyPr/>
                    <a:lstStyle/>
                    <a:p>
                      <a:pPr marL="0" algn="l" defTabSz="1828343" rtl="0" eaLnBrk="1" fontAlgn="b" latinLnBrk="0" hangingPunct="1"/>
                      <a:r>
                        <a:rPr lang="tr-TR" sz="14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Yönetim Kurulu Üyeleri</a:t>
                      </a:r>
                    </a:p>
                  </a:txBody>
                  <a:tcPr marL="457081" marR="91416" marT="45708" marB="45708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 sz="1400" b="0" i="0" dirty="0" err="1">
                          <a:solidFill>
                            <a:srgbClr val="000000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Xxx</a:t>
                      </a:r>
                      <a:r>
                        <a:rPr lang="tr-TR" sz="1400" b="0" i="0" dirty="0">
                          <a:solidFill>
                            <a:srgbClr val="000000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 xxx</a:t>
                      </a:r>
                      <a:r>
                        <a:rPr lang="tr-TR" sz="1400" b="1" dirty="0">
                          <a:solidFill>
                            <a:srgbClr val="000000"/>
                          </a:solidFill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                  </a:t>
                      </a:r>
                      <a:r>
                        <a:rPr lang="tr-TR" sz="1400" b="1" i="0" dirty="0">
                          <a:solidFill>
                            <a:srgbClr val="000000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YK Başkanı</a:t>
                      </a:r>
                      <a:endParaRPr lang="tr-TR" sz="1400" b="1" dirty="0">
                        <a:solidFill>
                          <a:srgbClr val="000000"/>
                        </a:solidFill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  <a:p>
                      <a:pPr marL="0" marR="0" lvl="0" indent="0" algn="l" defTabSz="18283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400" b="0" i="0" dirty="0" err="1">
                          <a:solidFill>
                            <a:srgbClr val="000000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Xxx</a:t>
                      </a:r>
                      <a:r>
                        <a:rPr lang="tr-TR" sz="1400" b="0" i="0" dirty="0">
                          <a:solidFill>
                            <a:srgbClr val="000000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 xxx                   </a:t>
                      </a:r>
                      <a:r>
                        <a:rPr lang="tr-TR" sz="1400" b="1" dirty="0">
                          <a:solidFill>
                            <a:srgbClr val="000000"/>
                          </a:solidFill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YK Başkan V</a:t>
                      </a:r>
                      <a:endParaRPr lang="tr-TR" sz="1400" dirty="0">
                        <a:solidFill>
                          <a:srgbClr val="000000"/>
                        </a:solidFill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  <a:p>
                      <a:r>
                        <a:rPr lang="tr-TR" sz="1400" dirty="0" err="1">
                          <a:solidFill>
                            <a:srgbClr val="000000"/>
                          </a:solidFill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Xxx</a:t>
                      </a:r>
                      <a:r>
                        <a:rPr lang="tr-TR" sz="1400" dirty="0">
                          <a:solidFill>
                            <a:srgbClr val="000000"/>
                          </a:solidFill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 xxx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303603"/>
                  </a:ext>
                </a:extLst>
              </a:tr>
              <a:tr h="558773">
                <a:tc>
                  <a:txBody>
                    <a:bodyPr/>
                    <a:lstStyle/>
                    <a:p>
                      <a:pPr marL="0" algn="l" defTabSz="1828343" rtl="0" eaLnBrk="1" fontAlgn="b" latinLnBrk="0" hangingPunct="1"/>
                      <a:r>
                        <a:rPr lang="tr-TR" sz="14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Genel Kurul Tarihi</a:t>
                      </a:r>
                    </a:p>
                  </a:txBody>
                  <a:tcPr marL="457081" marR="91416" marT="45708" marB="45708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34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400" b="0" i="0" kern="1200" dirty="0" err="1">
                          <a:solidFill>
                            <a:srgbClr val="000000"/>
                          </a:solidFill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xxxx</a:t>
                      </a:r>
                      <a:endParaRPr lang="tr-TR" sz="1400" b="0" i="0" kern="1200" dirty="0">
                        <a:solidFill>
                          <a:srgbClr val="000000"/>
                        </a:solidFill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811106"/>
                  </a:ext>
                </a:extLst>
              </a:tr>
              <a:tr h="728916">
                <a:tc>
                  <a:txBody>
                    <a:bodyPr/>
                    <a:lstStyle/>
                    <a:p>
                      <a:pPr marL="0" algn="l" defTabSz="1828343" rtl="0" eaLnBrk="1" fontAlgn="b" latinLnBrk="0" hangingPunct="1"/>
                      <a:r>
                        <a:rPr lang="tr-TR" sz="14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Ortaklara Borçlar</a:t>
                      </a:r>
                    </a:p>
                  </a:txBody>
                  <a:tcPr marL="457081" marR="91416" marT="45708" marB="45708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828343" rtl="0" eaLnBrk="1" fontAlgn="b" latinLnBrk="0" hangingPunct="1"/>
                      <a:endParaRPr lang="tr-TR" sz="1400" b="0" i="0" kern="1200" dirty="0">
                        <a:solidFill>
                          <a:srgbClr val="000000"/>
                        </a:solidFill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268816"/>
                  </a:ext>
                </a:extLst>
              </a:tr>
              <a:tr h="528069">
                <a:tc>
                  <a:txBody>
                    <a:bodyPr/>
                    <a:lstStyle/>
                    <a:p>
                      <a:pPr marL="0" algn="l" defTabSz="1828343" rtl="0" eaLnBrk="1" fontAlgn="b" latinLnBrk="0" hangingPunct="1"/>
                      <a:r>
                        <a:rPr lang="tr-TR" sz="14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Kredi Durumu</a:t>
                      </a:r>
                    </a:p>
                  </a:txBody>
                  <a:tcPr marL="457081" marR="91416" marT="45708" marB="45708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828343" rtl="0" eaLnBrk="1" fontAlgn="b" latinLnBrk="0" hangingPunct="1"/>
                      <a:r>
                        <a:rPr lang="tr-TR" sz="1400" b="0" i="0" kern="1200" dirty="0">
                          <a:solidFill>
                            <a:srgbClr val="000000"/>
                          </a:solidFill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-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826503"/>
                  </a:ext>
                </a:extLst>
              </a:tr>
              <a:tr h="528069">
                <a:tc>
                  <a:txBody>
                    <a:bodyPr/>
                    <a:lstStyle/>
                    <a:p>
                      <a:pPr marL="0" algn="l" defTabSz="1828343" rtl="0" eaLnBrk="1" fontAlgn="b" latinLnBrk="0" hangingPunct="1"/>
                      <a:r>
                        <a:rPr lang="tr-TR" sz="14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Personel Durumu</a:t>
                      </a:r>
                    </a:p>
                  </a:txBody>
                  <a:tcPr marL="457081" marR="91416" marT="45708" marB="45708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828343" rtl="0" eaLnBrk="1" fontAlgn="b" latinLnBrk="0" hangingPunct="1"/>
                      <a:r>
                        <a:rPr lang="tr-TR" sz="1400" b="0" i="0" kern="1200" dirty="0">
                          <a:solidFill>
                            <a:srgbClr val="000000"/>
                          </a:solidFill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x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853255"/>
                  </a:ext>
                </a:extLst>
              </a:tr>
              <a:tr h="528069">
                <a:tc>
                  <a:txBody>
                    <a:bodyPr/>
                    <a:lstStyle/>
                    <a:p>
                      <a:pPr marL="0" algn="l" defTabSz="1828343" rtl="0" eaLnBrk="1" fontAlgn="b" latinLnBrk="0" hangingPunct="1"/>
                      <a:r>
                        <a:rPr lang="tr-TR" sz="14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Patent Sayısı</a:t>
                      </a:r>
                    </a:p>
                  </a:txBody>
                  <a:tcPr marL="457081" marR="91416" marT="45708" marB="45708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828343" rtl="0" eaLnBrk="1" fontAlgn="b" latinLnBrk="0" hangingPunct="1"/>
                      <a:r>
                        <a:rPr lang="tr-TR" sz="1400" b="0" i="0" kern="1200" dirty="0">
                          <a:solidFill>
                            <a:srgbClr val="000000"/>
                          </a:solidFill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-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895089"/>
                  </a:ext>
                </a:extLst>
              </a:tr>
              <a:tr h="528069">
                <a:tc>
                  <a:txBody>
                    <a:bodyPr/>
                    <a:lstStyle/>
                    <a:p>
                      <a:pPr marL="0" algn="l" defTabSz="1828343" rtl="0" eaLnBrk="1" fontAlgn="b" latinLnBrk="0" hangingPunct="1"/>
                      <a:r>
                        <a:rPr lang="tr-TR" sz="14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Toplam Proje Sayısı</a:t>
                      </a:r>
                    </a:p>
                  </a:txBody>
                  <a:tcPr marL="457081" marR="91416" marT="45708" marB="45708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828343" rtl="0" eaLnBrk="1" fontAlgn="b" latinLnBrk="0" hangingPunct="1"/>
                      <a:r>
                        <a:rPr lang="tr-TR" sz="1400" b="0" i="0" kern="1200" dirty="0">
                          <a:solidFill>
                            <a:srgbClr val="000000"/>
                          </a:solidFill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-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661670"/>
                  </a:ext>
                </a:extLst>
              </a:tr>
              <a:tr h="999198">
                <a:tc>
                  <a:txBody>
                    <a:bodyPr/>
                    <a:lstStyle/>
                    <a:p>
                      <a:pPr marL="0" algn="l" defTabSz="1828343" rtl="0" eaLnBrk="1" fontAlgn="b" latinLnBrk="0" hangingPunct="1"/>
                      <a:r>
                        <a:rPr lang="tr-TR" sz="14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Toplam Proje Bedeli</a:t>
                      </a:r>
                    </a:p>
                  </a:txBody>
                  <a:tcPr marL="457081" marR="91416" marT="45708" marB="45708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 sz="1400" dirty="0">
                          <a:solidFill>
                            <a:srgbClr val="000000"/>
                          </a:solidFill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₺                -</a:t>
                      </a:r>
                      <a:endParaRPr lang="en-US" sz="1400" dirty="0">
                        <a:solidFill>
                          <a:srgbClr val="000000"/>
                        </a:solidFill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  <a:p>
                      <a:r>
                        <a:rPr lang="tr-TR" sz="1400" dirty="0">
                          <a:solidFill>
                            <a:srgbClr val="000000"/>
                          </a:solidFill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$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 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</a:rPr>
                        <a:t>                  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-</a:t>
                      </a:r>
                      <a:endParaRPr lang="en-US" sz="1400" b="0" dirty="0">
                        <a:solidFill>
                          <a:srgbClr val="000000"/>
                        </a:solidFill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  <a:p>
                      <a:pPr>
                        <a:tabLst>
                          <a:tab pos="901700" algn="l"/>
                        </a:tabLst>
                      </a:pPr>
                      <a:r>
                        <a:rPr lang="tr-TR" sz="1400" dirty="0">
                          <a:solidFill>
                            <a:srgbClr val="000000"/>
                          </a:solidFill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€                -</a:t>
                      </a:r>
                    </a:p>
                    <a:p>
                      <a:pPr marL="0" algn="ctr" defTabSz="1828343" rtl="0" eaLnBrk="1" fontAlgn="b" latinLnBrk="0" hangingPunct="1"/>
                      <a:endParaRPr lang="tr-TR" sz="1400" b="0" i="0" kern="1200" dirty="0">
                        <a:solidFill>
                          <a:srgbClr val="000000"/>
                        </a:solidFill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343170"/>
                  </a:ext>
                </a:extLst>
              </a:tr>
            </a:tbl>
          </a:graphicData>
        </a:graphic>
      </p:graphicFrame>
      <p:sp>
        <p:nvSpPr>
          <p:cNvPr id="36" name="Rectangle 79">
            <a:extLst>
              <a:ext uri="{FF2B5EF4-FFF2-40B4-BE49-F238E27FC236}">
                <a16:creationId xmlns:a16="http://schemas.microsoft.com/office/drawing/2014/main" id="{4797B33B-A40D-5CB4-5DF6-97F832FF967A}"/>
              </a:ext>
            </a:extLst>
          </p:cNvPr>
          <p:cNvSpPr/>
          <p:nvPr/>
        </p:nvSpPr>
        <p:spPr>
          <a:xfrm>
            <a:off x="16063241" y="5812657"/>
            <a:ext cx="7865505" cy="6754061"/>
          </a:xfrm>
          <a:prstGeom prst="rect">
            <a:avLst/>
          </a:pr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79">
            <a:extLst>
              <a:ext uri="{FF2B5EF4-FFF2-40B4-BE49-F238E27FC236}">
                <a16:creationId xmlns:a16="http://schemas.microsoft.com/office/drawing/2014/main" id="{F98765E2-1677-2171-475A-948673D9DF49}"/>
              </a:ext>
            </a:extLst>
          </p:cNvPr>
          <p:cNvSpPr/>
          <p:nvPr/>
        </p:nvSpPr>
        <p:spPr>
          <a:xfrm>
            <a:off x="591934" y="5861209"/>
            <a:ext cx="6870662" cy="6711412"/>
          </a:xfrm>
          <a:prstGeom prst="rect">
            <a:avLst/>
          </a:prstGeom>
          <a:solidFill>
            <a:schemeClr val="bg1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4" name="Chart 24">
            <a:extLst>
              <a:ext uri="{FF2B5EF4-FFF2-40B4-BE49-F238E27FC236}">
                <a16:creationId xmlns:a16="http://schemas.microsoft.com/office/drawing/2014/main" id="{15410267-53D9-70D6-CA0D-4099EA8940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0976551"/>
              </p:ext>
            </p:extLst>
          </p:nvPr>
        </p:nvGraphicFramePr>
        <p:xfrm>
          <a:off x="16148302" y="1556594"/>
          <a:ext cx="7897734" cy="4304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" name="Rectangle 79">
            <a:extLst>
              <a:ext uri="{FF2B5EF4-FFF2-40B4-BE49-F238E27FC236}">
                <a16:creationId xmlns:a16="http://schemas.microsoft.com/office/drawing/2014/main" id="{5DB0A2C6-7639-4470-E397-8D68C25AFE13}"/>
              </a:ext>
            </a:extLst>
          </p:cNvPr>
          <p:cNvSpPr/>
          <p:nvPr/>
        </p:nvSpPr>
        <p:spPr>
          <a:xfrm>
            <a:off x="16063242" y="1586628"/>
            <a:ext cx="7865504" cy="4137337"/>
          </a:xfrm>
          <a:prstGeom prst="rect">
            <a:avLst/>
          </a:pr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79">
            <a:extLst>
              <a:ext uri="{FF2B5EF4-FFF2-40B4-BE49-F238E27FC236}">
                <a16:creationId xmlns:a16="http://schemas.microsoft.com/office/drawing/2014/main" id="{331B30BD-F149-0162-3D24-17675D355E6A}"/>
              </a:ext>
            </a:extLst>
          </p:cNvPr>
          <p:cNvSpPr/>
          <p:nvPr/>
        </p:nvSpPr>
        <p:spPr>
          <a:xfrm>
            <a:off x="7692570" y="1585538"/>
            <a:ext cx="7999497" cy="10981181"/>
          </a:xfrm>
          <a:prstGeom prst="rect">
            <a:avLst/>
          </a:prstGeom>
          <a:solidFill>
            <a:srgbClr val="002060">
              <a:alpha val="1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8" name="Rectangle 79">
            <a:extLst>
              <a:ext uri="{FF2B5EF4-FFF2-40B4-BE49-F238E27FC236}">
                <a16:creationId xmlns:a16="http://schemas.microsoft.com/office/drawing/2014/main" id="{4E953C4D-7F77-5AAA-7F2A-12AC9F76E267}"/>
              </a:ext>
            </a:extLst>
          </p:cNvPr>
          <p:cNvSpPr/>
          <p:nvPr/>
        </p:nvSpPr>
        <p:spPr>
          <a:xfrm>
            <a:off x="567582" y="564260"/>
            <a:ext cx="6867885" cy="872660"/>
          </a:xfrm>
          <a:prstGeom prst="rect">
            <a:avLst/>
          </a:prstGeom>
          <a:solidFill>
            <a:schemeClr val="bg1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79">
            <a:extLst>
              <a:ext uri="{FF2B5EF4-FFF2-40B4-BE49-F238E27FC236}">
                <a16:creationId xmlns:a16="http://schemas.microsoft.com/office/drawing/2014/main" id="{187BACD9-66EC-C1D7-E369-9244312EA748}"/>
              </a:ext>
            </a:extLst>
          </p:cNvPr>
          <p:cNvSpPr/>
          <p:nvPr/>
        </p:nvSpPr>
        <p:spPr>
          <a:xfrm>
            <a:off x="7692570" y="564260"/>
            <a:ext cx="7999497" cy="900000"/>
          </a:xfrm>
          <a:prstGeom prst="rect">
            <a:avLst/>
          </a:prstGeom>
          <a:solidFill>
            <a:srgbClr val="002060">
              <a:alpha val="1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Rectangle 56">
            <a:extLst>
              <a:ext uri="{FF2B5EF4-FFF2-40B4-BE49-F238E27FC236}">
                <a16:creationId xmlns:a16="http://schemas.microsoft.com/office/drawing/2014/main" id="{F2A88569-6083-4900-4B61-AAEFBF621CBC}"/>
              </a:ext>
            </a:extLst>
          </p:cNvPr>
          <p:cNvSpPr/>
          <p:nvPr/>
        </p:nvSpPr>
        <p:spPr>
          <a:xfrm>
            <a:off x="2821863" y="736622"/>
            <a:ext cx="30863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Roboto Medium" panose="02000000000000000000" pitchFamily="2" charset="0"/>
                <a:cs typeface="Lato Light" panose="020F0502020204030203" pitchFamily="34" charset="0"/>
              </a:rPr>
              <a:t>Ortaklık Yapısı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Roboto Medium" panose="02000000000000000000" pitchFamily="2" charset="0"/>
              <a:cs typeface="Lato Light" panose="020F0502020204030203" pitchFamily="34" charset="0"/>
            </a:endParaRPr>
          </a:p>
        </p:txBody>
      </p:sp>
      <p:pic>
        <p:nvPicPr>
          <p:cNvPr id="245" name="Resim 244">
            <a:extLst>
              <a:ext uri="{FF2B5EF4-FFF2-40B4-BE49-F238E27FC236}">
                <a16:creationId xmlns:a16="http://schemas.microsoft.com/office/drawing/2014/main" id="{E34DF4BF-D258-4F3B-1EB8-9D503848834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002" b="10117"/>
          <a:stretch/>
        </p:blipFill>
        <p:spPr>
          <a:xfrm>
            <a:off x="6085" y="12806439"/>
            <a:ext cx="24371565" cy="900000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</p:spPr>
      </p:pic>
      <p:sp>
        <p:nvSpPr>
          <p:cNvPr id="11" name="Rectangle 79">
            <a:extLst>
              <a:ext uri="{FF2B5EF4-FFF2-40B4-BE49-F238E27FC236}">
                <a16:creationId xmlns:a16="http://schemas.microsoft.com/office/drawing/2014/main" id="{CF562A1E-82A8-7787-C7CE-E637FAF40DDE}"/>
              </a:ext>
            </a:extLst>
          </p:cNvPr>
          <p:cNvSpPr/>
          <p:nvPr/>
        </p:nvSpPr>
        <p:spPr>
          <a:xfrm>
            <a:off x="16063242" y="582728"/>
            <a:ext cx="7865504" cy="854192"/>
          </a:xfrm>
          <a:prstGeom prst="rect">
            <a:avLst/>
          </a:pr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2" name="Rectangle 56">
            <a:extLst>
              <a:ext uri="{FF2B5EF4-FFF2-40B4-BE49-F238E27FC236}">
                <a16:creationId xmlns:a16="http://schemas.microsoft.com/office/drawing/2014/main" id="{16DDB8E5-7B03-6FBD-5FCE-A042714B2994}"/>
              </a:ext>
            </a:extLst>
          </p:cNvPr>
          <p:cNvSpPr/>
          <p:nvPr/>
        </p:nvSpPr>
        <p:spPr>
          <a:xfrm>
            <a:off x="17607048" y="768753"/>
            <a:ext cx="51139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Roboto Medium" panose="02000000000000000000" pitchFamily="2" charset="0"/>
                <a:cs typeface="Lato Light" panose="020F0502020204030203" pitchFamily="34" charset="0"/>
              </a:rPr>
              <a:t>Haftalık / Aylık / Yıllık Gider Dağılımı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Roboto Medium" panose="02000000000000000000" pitchFamily="2" charset="0"/>
              <a:cs typeface="Lato Light" panose="020F0502020204030203" pitchFamily="34" charset="0"/>
            </a:endParaRPr>
          </a:p>
        </p:txBody>
      </p:sp>
      <p:sp>
        <p:nvSpPr>
          <p:cNvPr id="3" name="Rectangle 56">
            <a:extLst>
              <a:ext uri="{FF2B5EF4-FFF2-40B4-BE49-F238E27FC236}">
                <a16:creationId xmlns:a16="http://schemas.microsoft.com/office/drawing/2014/main" id="{958ADCD1-16C7-F85A-DF2A-67F3479F5539}"/>
              </a:ext>
            </a:extLst>
          </p:cNvPr>
          <p:cNvSpPr/>
          <p:nvPr/>
        </p:nvSpPr>
        <p:spPr>
          <a:xfrm>
            <a:off x="1327604" y="3301353"/>
            <a:ext cx="261012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Roboto Medium" panose="02000000000000000000" pitchFamily="2" charset="0"/>
                <a:cs typeface="Lato Light" panose="020F0502020204030203" pitchFamily="34" charset="0"/>
              </a:rPr>
              <a:t>Xx</a:t>
            </a:r>
            <a:r>
              <a:rPr kumimoji="0" lang="tr-TR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Roboto Medium" panose="02000000000000000000" pitchFamily="2" charset="0"/>
                <a:cs typeface="Lato Light" panose="020F0502020204030203" pitchFamily="34" charset="0"/>
              </a:rPr>
              <a:t> xx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Roboto Medium" panose="02000000000000000000" pitchFamily="2" charset="0"/>
              <a:cs typeface="Lato Light" panose="020F0502020204030203" pitchFamily="34" charset="0"/>
            </a:endParaRPr>
          </a:p>
        </p:txBody>
      </p:sp>
      <p:sp>
        <p:nvSpPr>
          <p:cNvPr id="252" name="Rectangle 56">
            <a:extLst>
              <a:ext uri="{FF2B5EF4-FFF2-40B4-BE49-F238E27FC236}">
                <a16:creationId xmlns:a16="http://schemas.microsoft.com/office/drawing/2014/main" id="{BBA3B73E-AB5C-8377-DD9C-1187110AEE4E}"/>
              </a:ext>
            </a:extLst>
          </p:cNvPr>
          <p:cNvSpPr/>
          <p:nvPr/>
        </p:nvSpPr>
        <p:spPr>
          <a:xfrm>
            <a:off x="9912462" y="778991"/>
            <a:ext cx="45527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Roboto Medium" panose="02000000000000000000" pitchFamily="2" charset="0"/>
                <a:cs typeface="Lato Light" panose="020F0502020204030203" pitchFamily="34" charset="0"/>
              </a:rPr>
              <a:t>Haftalık Nakit Durumu 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Roboto Medium" panose="02000000000000000000" pitchFamily="2" charset="0"/>
              <a:cs typeface="Lato Light" panose="020F0502020204030203" pitchFamily="34" charset="0"/>
            </a:endParaRPr>
          </a:p>
        </p:txBody>
      </p:sp>
      <p:sp>
        <p:nvSpPr>
          <p:cNvPr id="44" name="Rectangle 56">
            <a:extLst>
              <a:ext uri="{FF2B5EF4-FFF2-40B4-BE49-F238E27FC236}">
                <a16:creationId xmlns:a16="http://schemas.microsoft.com/office/drawing/2014/main" id="{818D48E6-E719-AC06-81EC-7478B7C628E5}"/>
              </a:ext>
            </a:extLst>
          </p:cNvPr>
          <p:cNvSpPr/>
          <p:nvPr/>
        </p:nvSpPr>
        <p:spPr>
          <a:xfrm>
            <a:off x="9639346" y="4721955"/>
            <a:ext cx="45527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Roboto Medium" panose="02000000000000000000" pitchFamily="2" charset="0"/>
                <a:cs typeface="Lato Light" panose="020F0502020204030203" pitchFamily="34" charset="0"/>
              </a:rPr>
              <a:t>Nakit Giriş / Çıkış Bilgisi (Aylık)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Roboto Medium" panose="02000000000000000000" pitchFamily="2" charset="0"/>
              <a:cs typeface="Lato Light" panose="020F0502020204030203" pitchFamily="34" charset="0"/>
            </a:endParaRPr>
          </a:p>
        </p:txBody>
      </p:sp>
      <p:graphicFrame>
        <p:nvGraphicFramePr>
          <p:cNvPr id="16" name="Chart 91">
            <a:extLst>
              <a:ext uri="{FF2B5EF4-FFF2-40B4-BE49-F238E27FC236}">
                <a16:creationId xmlns:a16="http://schemas.microsoft.com/office/drawing/2014/main" id="{4240C476-6655-2D0D-D4AD-0082DA2AD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4145034"/>
              </p:ext>
            </p:extLst>
          </p:nvPr>
        </p:nvGraphicFramePr>
        <p:xfrm>
          <a:off x="8162617" y="1474408"/>
          <a:ext cx="7369882" cy="9942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Chart 91">
            <a:extLst>
              <a:ext uri="{FF2B5EF4-FFF2-40B4-BE49-F238E27FC236}">
                <a16:creationId xmlns:a16="http://schemas.microsoft.com/office/drawing/2014/main" id="{7DC013A4-C858-7F50-BC3E-3622C317D7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4603648"/>
              </p:ext>
            </p:extLst>
          </p:nvPr>
        </p:nvGraphicFramePr>
        <p:xfrm>
          <a:off x="7968179" y="2291648"/>
          <a:ext cx="7677440" cy="801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1" name="Chart 91">
            <a:extLst>
              <a:ext uri="{FF2B5EF4-FFF2-40B4-BE49-F238E27FC236}">
                <a16:creationId xmlns:a16="http://schemas.microsoft.com/office/drawing/2014/main" id="{A7F62A92-9108-4BEA-B910-8FC48FEB92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9937583"/>
              </p:ext>
            </p:extLst>
          </p:nvPr>
        </p:nvGraphicFramePr>
        <p:xfrm>
          <a:off x="7755712" y="2839543"/>
          <a:ext cx="7865631" cy="926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12" name="Chart 19">
            <a:extLst>
              <a:ext uri="{FF2B5EF4-FFF2-40B4-BE49-F238E27FC236}">
                <a16:creationId xmlns:a16="http://schemas.microsoft.com/office/drawing/2014/main" id="{7D22AE28-56A2-E061-83D7-ED3B7759DB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2361224"/>
              </p:ext>
            </p:extLst>
          </p:nvPr>
        </p:nvGraphicFramePr>
        <p:xfrm>
          <a:off x="7697701" y="5417325"/>
          <a:ext cx="7994366" cy="70733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7" name="Subtitle 2">
            <a:extLst>
              <a:ext uri="{FF2B5EF4-FFF2-40B4-BE49-F238E27FC236}">
                <a16:creationId xmlns:a16="http://schemas.microsoft.com/office/drawing/2014/main" id="{9894B82A-F1FA-9024-91F7-B8DED1C4184A}"/>
              </a:ext>
            </a:extLst>
          </p:cNvPr>
          <p:cNvSpPr txBox="1">
            <a:spLocks/>
          </p:cNvSpPr>
          <p:nvPr/>
        </p:nvSpPr>
        <p:spPr>
          <a:xfrm>
            <a:off x="7697701" y="3842885"/>
            <a:ext cx="7973100" cy="487325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  <p:txBody>
          <a:bodyPr vert="horz" wrap="square" lIns="217433" tIns="108718" rIns="217433" bIns="108718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 algn="just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kumimoji="0" lang="tr-TR" sz="174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Lato Light" panose="020F0502020204030203" pitchFamily="34" charset="0"/>
                <a:cs typeface="Lato Light" panose="020F0502020204030203" pitchFamily="34" charset="0"/>
              </a:rPr>
              <a:t>Haftalık nakit giriş ve çıkışları kapsamında bilgilendirme eklenmektedir.</a:t>
            </a:r>
            <a:endParaRPr lang="tr-TR" sz="1740" dirty="0">
              <a:solidFill>
                <a:srgbClr val="000000"/>
              </a:solidFill>
              <a:latin typeface="Calibri" panose="020F0502020204030204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C5EE78D5-B4AD-729D-0095-A2663EC544A3}"/>
              </a:ext>
            </a:extLst>
          </p:cNvPr>
          <p:cNvSpPr txBox="1"/>
          <p:nvPr/>
        </p:nvSpPr>
        <p:spPr>
          <a:xfrm>
            <a:off x="8741994" y="1526081"/>
            <a:ext cx="63141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24.07.2026                      31.07.2026                        07.08.2026</a:t>
            </a:r>
          </a:p>
        </p:txBody>
      </p:sp>
    </p:spTree>
    <p:extLst>
      <p:ext uri="{BB962C8B-B14F-4D97-AF65-F5344CB8AC3E}">
        <p14:creationId xmlns:p14="http://schemas.microsoft.com/office/powerpoint/2010/main" val="3243646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10">
      <a:dk1>
        <a:srgbClr val="999999"/>
      </a:dk1>
      <a:lt1>
        <a:srgbClr val="FFFFFF"/>
      </a:lt1>
      <a:dk2>
        <a:srgbClr val="374556"/>
      </a:dk2>
      <a:lt2>
        <a:srgbClr val="FEFFFE"/>
      </a:lt2>
      <a:accent1>
        <a:srgbClr val="0B4DA8"/>
      </a:accent1>
      <a:accent2>
        <a:srgbClr val="129698"/>
      </a:accent2>
      <a:accent3>
        <a:srgbClr val="9D9E9D"/>
      </a:accent3>
      <a:accent4>
        <a:srgbClr val="0A65DD"/>
      </a:accent4>
      <a:accent5>
        <a:srgbClr val="0CC4C7"/>
      </a:accent5>
      <a:accent6>
        <a:srgbClr val="C8C8C8"/>
      </a:accent6>
      <a:hlink>
        <a:srgbClr val="9FD368"/>
      </a:hlink>
      <a:folHlink>
        <a:srgbClr val="B26B0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233699</TotalTime>
  <Words>194</Words>
  <Application>Microsoft Office PowerPoint</Application>
  <PresentationFormat>Özel</PresentationFormat>
  <Paragraphs>86</Paragraphs>
  <Slides>1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</vt:lpstr>
      <vt:lpstr>Calibri Light</vt:lpstr>
      <vt:lpstr>Lato Light</vt:lpstr>
      <vt:lpstr>Montserrat Light</vt:lpstr>
      <vt:lpstr>Office Theme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Cemile TEZEL</dc:creator>
  <cp:keywords/>
  <dc:description/>
  <cp:lastModifiedBy>Cemile TEZEL</cp:lastModifiedBy>
  <cp:revision>22493</cp:revision>
  <cp:lastPrinted>2024-02-01T14:05:14Z</cp:lastPrinted>
  <dcterms:created xsi:type="dcterms:W3CDTF">2014-11-12T21:47:38Z</dcterms:created>
  <dcterms:modified xsi:type="dcterms:W3CDTF">2026-08-10T09:36:35Z</dcterms:modified>
  <cp:category/>
</cp:coreProperties>
</file>